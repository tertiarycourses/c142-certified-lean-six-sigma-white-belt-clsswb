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Certified Lean Six Sigma White Belt (CLSSWB) Training</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C142</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  ·  21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Certified Lean Six Sigma practitioner — process improvement, quality and data-driven problem solving.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on Lean Six Sigma, quality management, data and cloud.</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A process in your work that frustrates you or your customers.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recognise or improve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 (cont.)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Lean Six Sigma foundations and the full DMAIC roadmap, hands-on</a:t>
            </a:r>
          </a:p>
          <a:p>
            <a:pPr>
              <a:spcAft>
                <a:spcPts val="1000"/>
              </a:spcAft>
            </a:pPr>
            <a:r>
              <a:rPr sz="1400" b="0">
                <a:solidFill>
                  <a:srgbClr val="5B6372"/>
                </a:solidFill>
                <a:latin typeface="Arial"/>
              </a:rPr>
              <a:t>–  Topic 1: Lean Six Sigma Foundations</a:t>
            </a:r>
          </a:p>
          <a:p>
            <a:pPr>
              <a:spcAft>
                <a:spcPts val="1000"/>
              </a:spcAft>
            </a:pPr>
            <a:r>
              <a:rPr sz="1400" b="0">
                <a:solidFill>
                  <a:srgbClr val="5B6372"/>
                </a:solidFill>
                <a:latin typeface="Arial"/>
              </a:rPr>
              <a:t>–  Topic 2: Define — Understand the Problem (Lab 1)</a:t>
            </a:r>
          </a:p>
          <a:p>
            <a:pPr>
              <a:spcAft>
                <a:spcPts val="1000"/>
              </a:spcAft>
            </a:pPr>
            <a:r>
              <a:rPr sz="1400" b="0">
                <a:solidFill>
                  <a:srgbClr val="5B6372"/>
                </a:solidFill>
                <a:latin typeface="Arial"/>
              </a:rPr>
              <a:t>–  Topic 3: Measure — See What Is Really Happening (Lab 2)</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(continued)</a:t>
            </a:r>
          </a:p>
          <a:p>
            <a:pPr>
              <a:spcAft>
                <a:spcPts val="1000"/>
              </a:spcAft>
            </a:pPr>
            <a:r>
              <a:rPr sz="1400" b="0">
                <a:solidFill>
                  <a:srgbClr val="5B6372"/>
                </a:solidFill>
                <a:latin typeface="Arial"/>
              </a:rPr>
              <a:t>–  Topic 4: Analyze — Find the Cause (Lab 3)</a:t>
            </a:r>
          </a:p>
          <a:p>
            <a:pPr>
              <a:spcAft>
                <a:spcPts val="1000"/>
              </a:spcAft>
            </a:pPr>
            <a:r>
              <a:rPr sz="1400" b="0">
                <a:solidFill>
                  <a:srgbClr val="5B6372"/>
                </a:solidFill>
                <a:latin typeface="Arial"/>
              </a:rPr>
              <a:t>–  Topic 5: Improve — Fix the Cause (Lab 4)</a:t>
            </a:r>
          </a:p>
          <a:p>
            <a:pPr>
              <a:spcAft>
                <a:spcPts val="1000"/>
              </a:spcAft>
            </a:pPr>
            <a:r>
              <a:rPr sz="1400" b="0">
                <a:solidFill>
                  <a:srgbClr val="5B6372"/>
                </a:solidFill>
                <a:latin typeface="Arial"/>
              </a:rPr>
              <a:t>–  Topic 6: Control — Hold the Gain (Lab 5)</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Lean Six Sigma Concepts</a:t>
            </a:r>
          </a:p>
          <a:p>
            <a:pPr algn="l">
              <a:spcAft>
                <a:spcPts val="300"/>
              </a:spcAft>
            </a:pPr>
            <a:r>
              <a:rPr sz="1300" b="0">
                <a:solidFill>
                  <a:srgbClr val="5B6372"/>
                </a:solidFill>
                <a:latin typeface="Arial"/>
              </a:rPr>
              <a:t>Describe the core concepts of quality, Lean, Six Sigma and Lean Six Sigma, and the belt roles in an improvement team.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The DMAIC Roadmap</a:t>
            </a:r>
          </a:p>
          <a:p>
            <a:pPr algn="l">
              <a:spcAft>
                <a:spcPts val="300"/>
              </a:spcAft>
            </a:pPr>
            <a:r>
              <a:rPr sz="1300" b="0">
                <a:solidFill>
                  <a:srgbClr val="5B6372"/>
                </a:solidFill>
                <a:latin typeface="Arial"/>
              </a:rPr>
              <a:t>Explain the five phases of the DMAIC roadmap and what happens in 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Define the Problem</a:t>
            </a:r>
          </a:p>
          <a:p>
            <a:pPr algn="l">
              <a:spcAft>
                <a:spcPts val="300"/>
              </a:spcAft>
            </a:pPr>
            <a:r>
              <a:rPr sz="1300" b="0">
                <a:solidFill>
                  <a:srgbClr val="5B6372"/>
                </a:solidFill>
                <a:latin typeface="Arial"/>
              </a:rPr>
              <a:t>Identify customer requirements and a clear problem statement in the Define phase.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Measure &amp; the 8 Wastes</a:t>
            </a:r>
          </a:p>
          <a:p>
            <a:pPr algn="l">
              <a:spcAft>
                <a:spcPts val="300"/>
              </a:spcAft>
            </a:pPr>
            <a:r>
              <a:rPr sz="1300" b="0">
                <a:solidFill>
                  <a:srgbClr val="5B6372"/>
                </a:solidFill>
                <a:latin typeface="Arial"/>
              </a:rPr>
              <a:t>Describe how a process is mapped and measured, and identify the eight wastes in the Measure phase.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Find the Root Cause</a:t>
            </a:r>
          </a:p>
          <a:p>
            <a:pPr algn="l">
              <a:spcAft>
                <a:spcPts val="300"/>
              </a:spcAft>
            </a:pPr>
            <a:r>
              <a:rPr sz="1300" b="0">
                <a:solidFill>
                  <a:srgbClr val="5B6372"/>
                </a:solidFill>
                <a:latin typeface="Arial"/>
              </a:rPr>
              <a:t>Identify likely causes of a problem using 5 Whys and Fishbone analysis in the Analyze phase.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Improve &amp; Control</a:t>
            </a:r>
          </a:p>
          <a:p>
            <a:pPr algn="l">
              <a:spcAft>
                <a:spcPts val="300"/>
              </a:spcAft>
            </a:pPr>
            <a:r>
              <a:rPr sz="1300" b="0">
                <a:solidFill>
                  <a:srgbClr val="5B6372"/>
                </a:solidFill>
                <a:latin typeface="Arial"/>
              </a:rPr>
              <a:t>Describe common improvement and control actions that fix a cause and hold the gain.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Lean Six Sigma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is Lean Six Sigma?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Lean removes waste</a:t>
            </a:r>
          </a:p>
          <a:p>
            <a:pPr algn="l">
              <a:spcAft>
                <a:spcPts val="300"/>
              </a:spcAft>
            </a:pPr>
            <a:r>
              <a:rPr sz="1300" b="0">
                <a:solidFill>
                  <a:srgbClr val="5B6372"/>
                </a:solidFill>
                <a:latin typeface="Arial"/>
              </a:rPr>
              <a:t>Maximise customer value by eliminating the effort the customer would never pay for.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Six Sigma reduces variation</a:t>
            </a:r>
          </a:p>
          <a:p>
            <a:pPr algn="l">
              <a:spcAft>
                <a:spcPts val="300"/>
              </a:spcAft>
            </a:pPr>
            <a:r>
              <a:rPr sz="1300" b="0">
                <a:solidFill>
                  <a:srgbClr val="5B6372"/>
                </a:solidFill>
                <a:latin typeface="Arial"/>
              </a:rPr>
              <a:t>A data-driven method that makes results consistent and predictable.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Together: fast and accurate</a:t>
            </a:r>
          </a:p>
          <a:p>
            <a:pPr algn="l">
              <a:spcAft>
                <a:spcPts val="300"/>
              </a:spcAft>
            </a:pPr>
            <a:r>
              <a:rPr sz="1300" b="0">
                <a:solidFill>
                  <a:srgbClr val="5B6372"/>
                </a:solidFill>
                <a:latin typeface="Arial"/>
              </a:rPr>
              <a:t>Lean Six Sigma delivers faster flow AND fewer defects, driven by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White Belt contributes</a:t>
            </a:r>
          </a:p>
          <a:p>
            <a:pPr algn="l">
              <a:spcAft>
                <a:spcPts val="300"/>
              </a:spcAft>
            </a:pPr>
            <a:r>
              <a:rPr sz="1300" b="0">
                <a:solidFill>
                  <a:srgbClr val="5B6372"/>
                </a:solidFill>
                <a:latin typeface="Arial"/>
              </a:rPr>
              <a:t>You support an improvement team — recognise waste, speak the language, use the basic tools.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DMAIC Roadmap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Define</a:t>
            </a:r>
          </a:p>
          <a:p>
            <a:pPr algn="l">
              <a:spcAft>
                <a:spcPts val="300"/>
              </a:spcAft>
            </a:pPr>
            <a:r>
              <a:rPr sz="1200" b="0">
                <a:solidFill>
                  <a:srgbClr val="5B6372"/>
                </a:solidFill>
                <a:latin typeface="Arial"/>
              </a:rPr>
              <a:t>Understand the problem — VOC, CTQ, problem statement, SMART goal and charter.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See what is really happening — process map, SIPOC, check sheets and the eight wastes.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Analyze</a:t>
            </a:r>
          </a:p>
          <a:p>
            <a:pPr algn="l">
              <a:spcAft>
                <a:spcPts val="300"/>
              </a:spcAft>
            </a:pPr>
            <a:r>
              <a:rPr sz="1200" b="0">
                <a:solidFill>
                  <a:srgbClr val="5B6372"/>
                </a:solidFill>
                <a:latin typeface="Arial"/>
              </a:rPr>
              <a:t>Find the cause — 5 Whys, Fishbone, Pareto and variation.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Improve</a:t>
            </a:r>
          </a:p>
          <a:p>
            <a:pPr algn="l">
              <a:spcAft>
                <a:spcPts val="300"/>
              </a:spcAft>
            </a:pPr>
            <a:r>
              <a:rPr sz="1200" b="0">
                <a:solidFill>
                  <a:srgbClr val="5B6372"/>
                </a:solidFill>
                <a:latin typeface="Arial"/>
              </a:rPr>
              <a:t>Fix the cause — countermeasures, 5S, mistake proofing, standard work and piloting.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a:t>
            </a:r>
          </a:p>
          <a:p>
            <a:pPr algn="l">
              <a:spcAft>
                <a:spcPts val="300"/>
              </a:spcAft>
            </a:pPr>
            <a:r>
              <a:rPr sz="1200" b="0">
                <a:solidFill>
                  <a:srgbClr val="5B6372"/>
                </a:solidFill>
                <a:latin typeface="Arial"/>
              </a:rPr>
              <a:t>Hold the gain — control plan, visual management, SOPs, huddles and handover.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LEAN SIX SIGMA MINDSET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the process, not the people.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tool in this course points at the process: see what it actually does, find why it does it, and change the system so the improvement holds.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Scenario, One Complete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Define &amp; Measure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BrewBean Cafe morning rush</a:t>
            </a:r>
          </a:p>
          <a:p>
            <a:pPr>
              <a:spcAft>
                <a:spcPts val="900"/>
              </a:spcAft>
            </a:pPr>
            <a:r>
              <a:rPr sz="1400" b="0">
                <a:solidFill>
                  <a:srgbClr val="161B26"/>
                </a:solidFill>
                <a:latin typeface="Arial"/>
              </a:rPr>
              <a:t>•  VOC → CTQ and problem statement</a:t>
            </a:r>
          </a:p>
          <a:p>
            <a:pPr>
              <a:spcAft>
                <a:spcPts val="900"/>
              </a:spcAft>
            </a:pPr>
            <a:r>
              <a:rPr sz="1400" b="0">
                <a:solidFill>
                  <a:srgbClr val="161B26"/>
                </a:solidFill>
                <a:latin typeface="Arial"/>
              </a:rPr>
              <a:t>•  Process map and waste tally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Analyze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5 Whys chain</a:t>
            </a:r>
          </a:p>
          <a:p>
            <a:pPr>
              <a:spcAft>
                <a:spcPts val="900"/>
              </a:spcAft>
            </a:pPr>
            <a:r>
              <a:rPr sz="1400" b="0">
                <a:solidFill>
                  <a:srgbClr val="161B26"/>
                </a:solidFill>
                <a:latin typeface="Arial"/>
              </a:rPr>
              <a:t>•  Fishbone (5M) diagram</a:t>
            </a:r>
          </a:p>
          <a:p>
            <a:pPr>
              <a:spcAft>
                <a:spcPts val="900"/>
              </a:spcAft>
            </a:pPr>
            <a:r>
              <a:rPr sz="1400" b="0">
                <a:solidFill>
                  <a:srgbClr val="161B26"/>
                </a:solidFill>
                <a:latin typeface="Arial"/>
              </a:rPr>
              <a:t>•  Reading a Pareto chart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Improve &amp; Control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Impact/effort screening</a:t>
            </a:r>
          </a:p>
          <a:p>
            <a:pPr>
              <a:spcAft>
                <a:spcPts val="900"/>
              </a:spcAft>
            </a:pPr>
            <a:r>
              <a:rPr sz="1400" b="0">
                <a:solidFill>
                  <a:srgbClr val="161B26"/>
                </a:solidFill>
                <a:latin typeface="Arial"/>
              </a:rPr>
              <a:t>•  Pilot plan and standard work</a:t>
            </a:r>
          </a:p>
          <a:p>
            <a:pPr>
              <a:spcAft>
                <a:spcPts val="900"/>
              </a:spcAft>
            </a:pPr>
            <a:r>
              <a:rPr sz="1400" b="0">
                <a:solidFill>
                  <a:srgbClr val="161B26"/>
                </a:solidFill>
                <a:latin typeface="Arial"/>
              </a:rPr>
              <a:t>•  Control plan and handover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Every lab uses one continuous scenario — the BrewBean Cafe morning rush, where customers queue up to 15 minutes.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Exactly one lab per DMAIC phase, so you walk the full roadmap in a single day.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Each lab produces a real artifact: a table, a map, a chart or a plan — using supplied templates.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Each lab ends with a 'Check your work' step so you can verify your own output.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By the end your five outputs form one complete improvement story, from problem to handover.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Lean Six Sigma Foundations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Lean Six Sigma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is Quality</a:t>
            </a:r>
          </a:p>
          <a:p>
            <a:pPr algn="l">
              <a:spcAft>
                <a:spcPts val="300"/>
              </a:spcAft>
            </a:pPr>
            <a:r>
              <a:rPr sz="1200" b="0">
                <a:solidFill>
                  <a:srgbClr val="5B6372"/>
                </a:solidFill>
                <a:latin typeface="Arial"/>
              </a:rPr>
              <a:t>Quality is meeting the customer's requirements — not just being free of defects.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is Lean</a:t>
            </a:r>
          </a:p>
          <a:p>
            <a:pPr algn="l">
              <a:spcAft>
                <a:spcPts val="300"/>
              </a:spcAft>
            </a:pPr>
            <a:r>
              <a:rPr sz="1200" b="0">
                <a:solidFill>
                  <a:srgbClr val="5B6372"/>
                </a:solidFill>
                <a:latin typeface="Arial"/>
              </a:rPr>
              <a:t>Lean removes waste so work flows faster to the customer.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is Six Sigma</a:t>
            </a:r>
          </a:p>
          <a:p>
            <a:pPr algn="l">
              <a:spcAft>
                <a:spcPts val="300"/>
              </a:spcAft>
            </a:pPr>
            <a:r>
              <a:rPr sz="1200" b="0">
                <a:solidFill>
                  <a:srgbClr val="5B6372"/>
                </a:solidFill>
                <a:latin typeface="Arial"/>
              </a:rPr>
              <a:t>Six Sigma reduces variation so results become consistent and predictable.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Lean Six Sigma</a:t>
            </a:r>
          </a:p>
          <a:p>
            <a:pPr algn="l">
              <a:spcAft>
                <a:spcPts val="300"/>
              </a:spcAft>
            </a:pPr>
            <a:r>
              <a:rPr sz="1200" b="0">
                <a:solidFill>
                  <a:srgbClr val="5B6372"/>
                </a:solidFill>
                <a:latin typeface="Arial"/>
              </a:rPr>
              <a:t>The two combined: faster flow AND fewer defects, decided by data not opinion.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Belt roles</a:t>
            </a:r>
          </a:p>
          <a:p>
            <a:pPr algn="l">
              <a:spcAft>
                <a:spcPts val="300"/>
              </a:spcAft>
            </a:pPr>
            <a:r>
              <a:rPr sz="1200" b="0">
                <a:solidFill>
                  <a:srgbClr val="5B6372"/>
                </a:solidFill>
                <a:latin typeface="Arial"/>
              </a:rPr>
              <a:t>White, Yellow, Green, Black and Master Black Belt — who does what on a team.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DMAIC roadmap</a:t>
            </a:r>
          </a:p>
          <a:p>
            <a:pPr algn="l">
              <a:spcAft>
                <a:spcPts val="300"/>
              </a:spcAft>
            </a:pPr>
            <a:r>
              <a:rPr sz="1200" b="0">
                <a:solidFill>
                  <a:srgbClr val="5B6372"/>
                </a:solidFill>
                <a:latin typeface="Arial"/>
              </a:rPr>
              <a:t>Define, Measure, Analyze, Improve, Control — the five-step improvement path.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Lean Six Sigma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Define — Understand the Problem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of the Customer</a:t>
            </a:r>
          </a:p>
          <a:p>
            <a:pPr algn="l">
              <a:spcAft>
                <a:spcPts val="300"/>
              </a:spcAft>
            </a:pPr>
            <a:r>
              <a:rPr sz="1200" b="0">
                <a:solidFill>
                  <a:srgbClr val="5B6372"/>
                </a:solidFill>
                <a:latin typeface="Arial"/>
              </a:rPr>
              <a:t>Ask customers what they need, and record it in their own words.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Critical to Quality</a:t>
            </a:r>
          </a:p>
          <a:p>
            <a:pPr algn="l">
              <a:spcAft>
                <a:spcPts val="300"/>
              </a:spcAft>
            </a:pPr>
            <a:r>
              <a:rPr sz="1200" b="0">
                <a:solidFill>
                  <a:srgbClr val="5B6372"/>
                </a:solidFill>
                <a:latin typeface="Arial"/>
              </a:rPr>
              <a:t>Turn each customer need into something specific you can measure.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Problem statement</a:t>
            </a:r>
          </a:p>
          <a:p>
            <a:pPr algn="l">
              <a:spcAft>
                <a:spcPts val="300"/>
              </a:spcAft>
            </a:pPr>
            <a:r>
              <a:rPr sz="1200" b="0">
                <a:solidFill>
                  <a:srgbClr val="5B6372"/>
                </a:solidFill>
                <a:latin typeface="Arial"/>
              </a:rPr>
              <a:t>What is wrong, where, since when, and how big — never the solution.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SMART goal</a:t>
            </a:r>
          </a:p>
          <a:p>
            <a:pPr algn="l">
              <a:spcAft>
                <a:spcPts val="300"/>
              </a:spcAft>
            </a:pPr>
            <a:r>
              <a:rPr sz="1200" b="0">
                <a:solidFill>
                  <a:srgbClr val="5B6372"/>
                </a:solidFill>
                <a:latin typeface="Arial"/>
              </a:rPr>
              <a:t>Specific, Measurable, Achievable, Relevant and Time-bound.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Project charter</a:t>
            </a:r>
          </a:p>
          <a:p>
            <a:pPr algn="l">
              <a:spcAft>
                <a:spcPts val="300"/>
              </a:spcAft>
            </a:pPr>
            <a:r>
              <a:rPr sz="1200" b="0">
                <a:solidFill>
                  <a:srgbClr val="5B6372"/>
                </a:solidFill>
                <a:latin typeface="Arial"/>
              </a:rPr>
              <a:t>A one-page summary of the problem, goal, scope and team.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Agreeing what is in and out keeps a small project small.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Define — Understand the Problem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 Customer Requirements and the Problem Statement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Voice of the Customer, CTQ, problem statement, SMART goal, project scope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BrewBean Cafe scenario and underline every customer complaint you can find.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five Voice of the Customer statements in the customer's own words (e.g. 'I'm late for work because the queue is too slow').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Turn each VOC statement into a measurable CTQ requirement — add a number and a unit (e.g. 'served within 5 minutes').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problem statement using the template: what is wrong, where, since when, and how big. Do NOT write a solution.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your problem statement against the SMART test and rewrite the goal so it is Specific, Measurable, Achievable, Relevant and Time-bound.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Fill the in-scope / out-of-scope table so the team knows where the project stops.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 Customer Requirements and the Problem Statement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Define — Understand the Problem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Identify customer requirements and write a clear problem statement.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Measure — See What Is Really Happening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Process mapping</a:t>
            </a:r>
          </a:p>
          <a:p>
            <a:pPr algn="l">
              <a:spcAft>
                <a:spcPts val="300"/>
              </a:spcAft>
            </a:pPr>
            <a:r>
              <a:rPr sz="1200" b="0">
                <a:solidFill>
                  <a:srgbClr val="5B6372"/>
                </a:solidFill>
                <a:latin typeface="Arial"/>
              </a:rPr>
              <a:t>Draw the steps as they really happen, not as the manual says.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SIPOC</a:t>
            </a:r>
          </a:p>
          <a:p>
            <a:pPr algn="l">
              <a:spcAft>
                <a:spcPts val="300"/>
              </a:spcAft>
            </a:pPr>
            <a:r>
              <a:rPr sz="1200" b="0">
                <a:solidFill>
                  <a:srgbClr val="5B6372"/>
                </a:solidFill>
                <a:latin typeface="Arial"/>
              </a:rPr>
              <a:t>A one-page overview: Suppliers, Inputs, Process, Outputs, Customers.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Types of data</a:t>
            </a:r>
          </a:p>
          <a:p>
            <a:pPr algn="l">
              <a:spcAft>
                <a:spcPts val="300"/>
              </a:spcAft>
            </a:pPr>
            <a:r>
              <a:rPr sz="1200" b="0">
                <a:solidFill>
                  <a:srgbClr val="5B6372"/>
                </a:solidFill>
                <a:latin typeface="Arial"/>
              </a:rPr>
              <a:t>Discrete data you count; continuous data you measure on a scale.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collection</a:t>
            </a:r>
          </a:p>
          <a:p>
            <a:pPr algn="l">
              <a:spcAft>
                <a:spcPts val="300"/>
              </a:spcAft>
            </a:pPr>
            <a:r>
              <a:rPr sz="1200" b="0">
                <a:solidFill>
                  <a:srgbClr val="5B6372"/>
                </a:solidFill>
                <a:latin typeface="Arial"/>
              </a:rPr>
              <a:t>Agree what to record, who records it, and when — before you start.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sheets</a:t>
            </a:r>
          </a:p>
          <a:p>
            <a:pPr algn="l">
              <a:spcAft>
                <a:spcPts val="300"/>
              </a:spcAft>
            </a:pPr>
            <a:r>
              <a:rPr sz="1200" b="0">
                <a:solidFill>
                  <a:srgbClr val="5B6372"/>
                </a:solidFill>
                <a:latin typeface="Arial"/>
              </a:rPr>
              <a:t>A simple tally form is the easiest reliable way to collect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eight wastes</a:t>
            </a:r>
          </a:p>
          <a:p>
            <a:pPr algn="l">
              <a:spcAft>
                <a:spcPts val="300"/>
              </a:spcAft>
            </a:pPr>
            <a:r>
              <a:rPr sz="1200" b="0">
                <a:solidFill>
                  <a:srgbClr val="5B6372"/>
                </a:solidFill>
                <a:latin typeface="Arial"/>
              </a:rPr>
              <a:t>DOWNTIME — Defects, Overproduction, Waiting, Non-utilised talent, Transport, Inventory, Motion, Extra-processing.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Measure — See What Is Really Happening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Measure — Map the Process and Spot the Waste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SIPOC, process mapping, types of data, check sheets, the eight wastes (DOWNTIME)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Agree the start and stop points of the process — start: customer joins the queue; stop: customer receives the drink.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Complete the SIPOC template: Suppliers, Inputs, Process (5-7 steps only), Outputs, Customers.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List the process steps in order and write the observed time next to each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Mark each step as value-adding (the customer would pay for it) or not value-adding.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Classify the data you collected: which figures are discrete (counted) and which are continuous (measured)?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Walk the process again with the DOWNTIME check sheet and tally every waste you observe against its type.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Identify which single waste type you tallied most often, and which process step it happens 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Measure — Map the Process and Spot the Waste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Measure — See What Is Really Happening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Describe how the process runs and identify the eight wastes in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Analyze — Find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Symptom vs cause</a:t>
            </a:r>
          </a:p>
          <a:p>
            <a:pPr algn="l">
              <a:spcAft>
                <a:spcPts val="300"/>
              </a:spcAft>
            </a:pPr>
            <a:r>
              <a:rPr sz="1200" b="0">
                <a:solidFill>
                  <a:srgbClr val="5B6372"/>
                </a:solidFill>
                <a:latin typeface="Arial"/>
              </a:rPr>
              <a:t>Treating the symptom makes the problem come back; treating the cause does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cause</a:t>
            </a:r>
          </a:p>
          <a:p>
            <a:pPr algn="l">
              <a:spcAft>
                <a:spcPts val="300"/>
              </a:spcAft>
            </a:pPr>
            <a:r>
              <a:rPr sz="1200" b="0">
                <a:solidFill>
                  <a:srgbClr val="5B6372"/>
                </a:solidFill>
                <a:latin typeface="Arial"/>
              </a:rPr>
              <a:t>The cause that, once removed, stops the problem recurring.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Whys</a:t>
            </a:r>
          </a:p>
          <a:p>
            <a:pPr algn="l">
              <a:spcAft>
                <a:spcPts val="300"/>
              </a:spcAft>
            </a:pPr>
            <a:r>
              <a:rPr sz="1200" b="0">
                <a:solidFill>
                  <a:srgbClr val="5B6372"/>
                </a:solidFill>
                <a:latin typeface="Arial"/>
              </a:rPr>
              <a:t>Keep asking 'why?' until you reach something you can actually act 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Fishbone diagram</a:t>
            </a:r>
          </a:p>
          <a:p>
            <a:pPr algn="l">
              <a:spcAft>
                <a:spcPts val="300"/>
              </a:spcAft>
            </a:pPr>
            <a:r>
              <a:rPr sz="1200" b="0">
                <a:solidFill>
                  <a:srgbClr val="5B6372"/>
                </a:solidFill>
                <a:latin typeface="Arial"/>
              </a:rPr>
              <a:t>Sort possible causes into Manpower, Method, Machine, Material and Measurement.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Pareto chart</a:t>
            </a:r>
          </a:p>
          <a:p>
            <a:pPr algn="l">
              <a:spcAft>
                <a:spcPts val="300"/>
              </a:spcAft>
            </a:pPr>
            <a:r>
              <a:rPr sz="1200" b="0">
                <a:solidFill>
                  <a:srgbClr val="5B6372"/>
                </a:solidFill>
                <a:latin typeface="Arial"/>
              </a:rPr>
              <a:t>Roughly 80% of the problem usually comes from 20% of the causes.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Variation</a:t>
            </a:r>
          </a:p>
          <a:p>
            <a:pPr algn="l">
              <a:spcAft>
                <a:spcPts val="300"/>
              </a:spcAft>
            </a:pPr>
            <a:r>
              <a:rPr sz="1200" b="0">
                <a:solidFill>
                  <a:srgbClr val="5B6372"/>
                </a:solidFill>
                <a:latin typeface="Arial"/>
              </a:rPr>
              <a:t>Some variation is normal in the process; some has a specific assignable cause.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Analyze — Find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Analyze — Find the Root Cause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now know WHERE the delay happens. This lab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Symptom vs cause, 5 Whys, Fishbone (5M) diagram, Pareto chart, common vs special cause variation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symptom from your Lab 2 findings at the top of the 5 Whys template (e.g. 'customers wait 15 minutes').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'why does that happen?' five times, each answer becoming the next question. Stop when you reach something you can act 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Draw the Fishbone diagram and write the problem in the head of the fish.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Brainstorm possible causes onto the five bones: Manpower, Method, Machine, Material and Measurement.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supplied Pareto chart of BrewBean complaint types and state which few causes account for most of the problem.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Decide for each shortlisted cause whether it is common cause (happens every day) or special cause (a one-off event).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Shortlist the two or three causes best supported by the data you collected in Lab 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Analyze — Find the Root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Analyze — Find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Identify likely causes using 5 Whys and Fishbone analysis.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COURSE COVERAGE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Improve — Fix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Generating solutions</a:t>
            </a:r>
          </a:p>
          <a:p>
            <a:pPr algn="l">
              <a:spcAft>
                <a:spcPts val="300"/>
              </a:spcAft>
            </a:pPr>
            <a:r>
              <a:rPr sz="1200" b="0">
                <a:solidFill>
                  <a:srgbClr val="5B6372"/>
                </a:solidFill>
                <a:latin typeface="Arial"/>
              </a:rPr>
              <a:t>Brainstorm against the proven cause — never against the symptom.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Choosing a solution</a:t>
            </a:r>
          </a:p>
          <a:p>
            <a:pPr algn="l">
              <a:spcAft>
                <a:spcPts val="300"/>
              </a:spcAft>
            </a:pPr>
            <a:r>
              <a:rPr sz="1200" b="0">
                <a:solidFill>
                  <a:srgbClr val="5B6372"/>
                </a:solidFill>
                <a:latin typeface="Arial"/>
              </a:rPr>
              <a:t>Compare ideas on impact, effort and risk before committing.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5S</a:t>
            </a:r>
          </a:p>
          <a:p>
            <a:pPr algn="l">
              <a:spcAft>
                <a:spcPts val="300"/>
              </a:spcAft>
            </a:pPr>
            <a:r>
              <a:rPr sz="1200" b="0">
                <a:solidFill>
                  <a:srgbClr val="5B6372"/>
                </a:solidFill>
                <a:latin typeface="Arial"/>
              </a:rPr>
              <a:t>Sort, Set in order, Shine, Standardise, Sustain — a tidy workplace for physical or digital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Mistake proofing</a:t>
            </a:r>
          </a:p>
          <a:p>
            <a:pPr algn="l">
              <a:spcAft>
                <a:spcPts val="300"/>
              </a:spcAft>
            </a:pPr>
            <a:r>
              <a:rPr sz="1200" b="0">
                <a:solidFill>
                  <a:srgbClr val="5B6372"/>
                </a:solidFill>
                <a:latin typeface="Arial"/>
              </a:rPr>
              <a:t>Poka-Yoke makes the error hard or impossible to make.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work</a:t>
            </a:r>
          </a:p>
          <a:p>
            <a:pPr algn="l">
              <a:spcAft>
                <a:spcPts val="300"/>
              </a:spcAft>
            </a:pPr>
            <a:r>
              <a:rPr sz="1200" b="0">
                <a:solidFill>
                  <a:srgbClr val="5B6372"/>
                </a:solidFill>
                <a:latin typeface="Arial"/>
              </a:rPr>
              <a:t>Write the better method down so everyone does it the same way.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Piloting</a:t>
            </a:r>
          </a:p>
          <a:p>
            <a:pPr algn="l">
              <a:spcAft>
                <a:spcPts val="300"/>
              </a:spcAft>
            </a:pPr>
            <a:r>
              <a:rPr sz="1200" b="0">
                <a:solidFill>
                  <a:srgbClr val="5B6372"/>
                </a:solidFill>
                <a:latin typeface="Arial"/>
              </a:rPr>
              <a:t>Try the change small first, so mistakes stay cheap.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Improve — Fix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Improve — Choose and Pilot a Countermeasure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A cause is only worth finding if something changes because of it. Take the root causes you shortlisted in Lab 3, generate countermeasures against them, and pick one that is small enough to try next week. The discipline here is to solve the CAUSE you proved, not the symptom you started with.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Brainstorming, impact/effort screening, 5S, mistake proofing (Poka-Yoke), standard work, piloting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your top root cause from Lab 3 at the top of the sheet — every idea must address THIS cause.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Brainstorm at least six countermeasures without judging any of them yet.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whether 5S would help: is anything at the counter hard to find, out of place or untidy?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whether mistake proofing would help: could the wrong order be made impossible rather than merely discouraged?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Plot every idea on the impact/effort grid and pick one from the high-impact, low-effort corner.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improved method as standard work — short numbered steps anyone on shift could follow.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one-week pilot plan: what changes, who runs it, what you will measure, and how you will know it worked.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Improve — Choose and Pilot a Countermeasure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Lab 3 (not the symptom), and your pilot plan names a measure, an owner and a review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Improve — Fix the Cause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Describe improvement actions that address the identified cause.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F59E0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COURSE COVERAGE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Control — Hold the Gain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Control matters</a:t>
            </a:r>
          </a:p>
          <a:p>
            <a:pPr algn="l">
              <a:spcAft>
                <a:spcPts val="300"/>
              </a:spcAft>
            </a:pPr>
            <a:r>
              <a:rPr sz="1200" b="0">
                <a:solidFill>
                  <a:srgbClr val="5B6372"/>
                </a:solidFill>
                <a:latin typeface="Arial"/>
              </a:rPr>
              <a:t>Without Control, processes quietly drift back to the old way.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plan</a:t>
            </a:r>
          </a:p>
          <a:p>
            <a:pPr algn="l">
              <a:spcAft>
                <a:spcPts val="300"/>
              </a:spcAft>
            </a:pPr>
            <a:r>
              <a:rPr sz="1200" b="0">
                <a:solidFill>
                  <a:srgbClr val="5B6372"/>
                </a:solidFill>
                <a:latin typeface="Arial"/>
              </a:rPr>
              <a:t>What we measure, the target, how often, who owns it, and what to do if it slips.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 management</a:t>
            </a:r>
          </a:p>
          <a:p>
            <a:pPr algn="l">
              <a:spcAft>
                <a:spcPts val="300"/>
              </a:spcAft>
            </a:pPr>
            <a:r>
              <a:rPr sz="1200" b="0">
                <a:solidFill>
                  <a:srgbClr val="5B6372"/>
                </a:solidFill>
                <a:latin typeface="Arial"/>
              </a:rPr>
              <a:t>Make performance visible so problems are noticed the same day.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operating procedures</a:t>
            </a:r>
          </a:p>
          <a:p>
            <a:pPr algn="l">
              <a:spcAft>
                <a:spcPts val="300"/>
              </a:spcAft>
            </a:pPr>
            <a:r>
              <a:rPr sz="1200" b="0">
                <a:solidFill>
                  <a:srgbClr val="5B6372"/>
                </a:solidFill>
                <a:latin typeface="Arial"/>
              </a:rPr>
              <a:t>Written instructions that lock in the improved method.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Team huddles</a:t>
            </a:r>
          </a:p>
          <a:p>
            <a:pPr algn="l">
              <a:spcAft>
                <a:spcPts val="300"/>
              </a:spcAft>
            </a:pPr>
            <a:r>
              <a:rPr sz="1200" b="0">
                <a:solidFill>
                  <a:srgbClr val="5B6372"/>
                </a:solidFill>
                <a:latin typeface="Arial"/>
              </a:rPr>
              <a:t>Short regular stand-ups catch problems while they are still small.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Handover</a:t>
            </a:r>
          </a:p>
          <a:p>
            <a:pPr algn="l">
              <a:spcAft>
                <a:spcPts val="300"/>
              </a:spcAft>
            </a:pPr>
            <a:r>
              <a:rPr sz="1200" b="0">
                <a:solidFill>
                  <a:srgbClr val="5B6372"/>
                </a:solidFill>
                <a:latin typeface="Arial"/>
              </a:rPr>
              <a:t>Give the improved process back to the people who run it every day.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Control — Hold the Gain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Control — Hold the Gain and Hand Over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Control plan, visual management, SOPs, team huddles, handover, one-page summary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the ONE measure that tells you the improvement is still working (e.g. average wait time at 8:00am).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Complete the control plan template: measure, target, how often it is checked, and who owns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reaction plan — the exact steps to take when the measure misses target.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Sketch a simple visual board that would make this measure visible to the whole shift.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Turn your Lab 4 standard work into a short SOP the cafe could actually pin up.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Plan a five-minute daily huddle: who attends, what is reviewed and how long it lasts.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Summarise the whole project on one page — problem, cause, countermeasure, result and control — and name who you hand it over to.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 Hold the Gain and Hand 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Control — Hold the Gain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Describe the control actions that sustain an improvement.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Lean Six Sigma Concepts</a:t>
            </a:r>
          </a:p>
          <a:p>
            <a:pPr algn="l">
              <a:spcAft>
                <a:spcPts val="300"/>
              </a:spcAft>
            </a:pPr>
            <a:r>
              <a:rPr sz="1300" b="0">
                <a:solidFill>
                  <a:srgbClr val="5B6372"/>
                </a:solidFill>
                <a:latin typeface="Arial"/>
              </a:rPr>
              <a:t>Describe the core concepts of quality, Lean, Six Sigma and Lean Six Sigma, and the belt roles in an improvement team.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The DMAIC Roadmap</a:t>
            </a:r>
          </a:p>
          <a:p>
            <a:pPr algn="l">
              <a:spcAft>
                <a:spcPts val="300"/>
              </a:spcAft>
            </a:pPr>
            <a:r>
              <a:rPr sz="1300" b="0">
                <a:solidFill>
                  <a:srgbClr val="5B6372"/>
                </a:solidFill>
                <a:latin typeface="Arial"/>
              </a:rPr>
              <a:t>Explain the five phases of the DMAIC roadmap and what happens in 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Define the Problem</a:t>
            </a:r>
          </a:p>
          <a:p>
            <a:pPr algn="l">
              <a:spcAft>
                <a:spcPts val="300"/>
              </a:spcAft>
            </a:pPr>
            <a:r>
              <a:rPr sz="1300" b="0">
                <a:solidFill>
                  <a:srgbClr val="5B6372"/>
                </a:solidFill>
                <a:latin typeface="Arial"/>
              </a:rPr>
              <a:t>Identify customer requirements and a clear problem statement in the Define phase.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Measure &amp; the 8 Wastes</a:t>
            </a:r>
          </a:p>
          <a:p>
            <a:pPr algn="l">
              <a:spcAft>
                <a:spcPts val="300"/>
              </a:spcAft>
            </a:pPr>
            <a:r>
              <a:rPr sz="1300" b="0">
                <a:solidFill>
                  <a:srgbClr val="5B6372"/>
                </a:solidFill>
                <a:latin typeface="Arial"/>
              </a:rPr>
              <a:t>Describe how a process is mapped and measured, and identify the eight wastes in the Measure phase.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Find the Root Cause</a:t>
            </a:r>
          </a:p>
          <a:p>
            <a:pPr algn="l">
              <a:spcAft>
                <a:spcPts val="300"/>
              </a:spcAft>
            </a:pPr>
            <a:r>
              <a:rPr sz="1300" b="0">
                <a:solidFill>
                  <a:srgbClr val="5B6372"/>
                </a:solidFill>
                <a:latin typeface="Arial"/>
              </a:rPr>
              <a:t>Identify likely causes of a problem using 5 Whys and Fishbone analysis in the Analyze phase.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Improve &amp; Control</a:t>
            </a:r>
          </a:p>
          <a:p>
            <a:pPr algn="l">
              <a:spcAft>
                <a:spcPts val="300"/>
              </a:spcAft>
            </a:pPr>
            <a:r>
              <a:rPr sz="1300" b="0">
                <a:solidFill>
                  <a:srgbClr val="5B6372"/>
                </a:solidFill>
                <a:latin typeface="Arial"/>
              </a:rPr>
              <a:t>Describe common improvement and control actions that fix a cause and hold the gain.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Lean Six Sigma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Spot the eight wastes in your own workplace this week — the DOWNTIME checklist works anywhere.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Contribute to an improvement team using the language and tools from this course.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Progress towards Yellow Belt — deeper data collection, process metrics and analysis tools.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Build the habit: ask 'why?' past the symptom, and check the gain held after any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IMPROVE THE PROCESS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describe the DMAIC roadmap, recognise waste and variation, and contribute to a Lean Six Sigma improvement team.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