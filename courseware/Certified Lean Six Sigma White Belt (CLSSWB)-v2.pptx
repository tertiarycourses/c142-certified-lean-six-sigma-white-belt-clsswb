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4" r:id="rId15"/>
    <p:sldId id="267" r:id="rId18"/>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7" r:id="rId128"/>
    <p:sldId id="381" r:id="rId132"/>
    <p:sldId id="382" r:id="rId133"/>
    <p:sldId id="383" r:id="rId1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8"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120" Type="http://schemas.openxmlformats.org/officeDocument/2006/relationships/slide" Target="slides/slide108.xml"/><Relationship Id="rId121" Type="http://schemas.openxmlformats.org/officeDocument/2006/relationships/slide" Target="slides/slide109.xml"/><Relationship Id="rId122" Type="http://schemas.openxmlformats.org/officeDocument/2006/relationships/slide" Target="slides/slide110.xml"/><Relationship Id="rId123" Type="http://schemas.openxmlformats.org/officeDocument/2006/relationships/slide" Target="slides/slide111.xml"/><Relationship Id="rId124" Type="http://schemas.openxmlformats.org/officeDocument/2006/relationships/slide" Target="slides/slide112.xml"/><Relationship Id="rId125" Type="http://schemas.openxmlformats.org/officeDocument/2006/relationships/slide" Target="slides/slide113.xml"/><Relationship Id="rId126" Type="http://schemas.openxmlformats.org/officeDocument/2006/relationships/slide" Target="slides/slide114.xml"/><Relationship Id="rId128" Type="http://schemas.openxmlformats.org/officeDocument/2006/relationships/slide" Target="slides/slide115.xml"/><Relationship Id="rId132" Type="http://schemas.openxmlformats.org/officeDocument/2006/relationships/slide" Target="slides/slide116.xml"/><Relationship Id="rId133" Type="http://schemas.openxmlformats.org/officeDocument/2006/relationships/slide" Target="slides/slide117.xml"/><Relationship Id="rId134" Type="http://schemas.openxmlformats.org/officeDocument/2006/relationships/slide" Target="slides/slide1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White Belt (CLSSWB)</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C142</a:t>
            </a:r>
          </a:p>
          <a:p>
            <a:r>
              <a:rPr sz="1600" b="0">
                <a:latin typeface="Arial"/>
              </a:rPr>
              <a:t>Conducted by Tertiary Infotech Academy Pte Ltd  ·  UEN: 201200696W</a:t>
            </a:r>
          </a:p>
          <a:p>
            <a:r>
              <a:rPr sz="1600" b="0">
                <a:latin typeface="Arial"/>
              </a:rPr>
              <a:t>Conducted in English</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  ·  19 July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Full attendance — stay for the whole day to get the most from the course.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you will use them throughout the labs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9:30am-5:30pm with a 30-minute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1 Day, 7.5 Hours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Morning — Foundations and Define</a:t>
            </a:r>
          </a:p>
          <a:p>
            <a:pPr>
              <a:spcAft>
                <a:spcPts val="1000"/>
              </a:spcAft>
            </a:pPr>
            <a:r>
              <a:rPr sz="1300">
                <a:solidFill>
                  <a:srgbClr val="5B6372"/>
                </a:solidFill>
                <a:latin typeface="Arial"/>
              </a:rPr>
              <a:t>–  Welcome · Introductions · Ground rules</a:t>
            </a:r>
          </a:p>
          <a:p>
            <a:pPr>
              <a:spcAft>
                <a:spcPts val="1000"/>
              </a:spcAft>
            </a:pPr>
            <a:r>
              <a:rPr sz="1300">
                <a:solidFill>
                  <a:srgbClr val="5B6372"/>
                </a:solidFill>
                <a:latin typeface="Arial"/>
              </a:rPr>
              <a:t>–  Foundations: Quality, Lean, Six Sigma, Lean Six Sigma</a:t>
            </a:r>
          </a:p>
          <a:p>
            <a:pPr>
              <a:spcAft>
                <a:spcPts val="1000"/>
              </a:spcAft>
            </a:pPr>
            <a:r>
              <a:rPr sz="1300">
                <a:solidFill>
                  <a:srgbClr val="5B6372"/>
                </a:solidFill>
                <a:latin typeface="Arial"/>
              </a:rPr>
              <a:t>–  Belt roles and the DMAIC roadmap</a:t>
            </a:r>
          </a:p>
          <a:p>
            <a:pPr>
              <a:spcAft>
                <a:spcPts val="1000"/>
              </a:spcAft>
            </a:pPr>
            <a:r>
              <a:rPr sz="1300">
                <a:solidFill>
                  <a:srgbClr val="5B6372"/>
                </a:solidFill>
                <a:latin typeface="Arial"/>
              </a:rPr>
              <a:t>–  DEFINE: VOC, CTQ, problem statement, SMART goal</a:t>
            </a:r>
          </a:p>
          <a:p>
            <a:pPr>
              <a:spcAft>
                <a:spcPts val="1000"/>
              </a:spcAft>
            </a:pPr>
            <a:r>
              <a:rPr sz="1300">
                <a:solidFill>
                  <a:srgbClr val="5B6372"/>
                </a:solidFill>
                <a:latin typeface="Arial"/>
              </a:rPr>
              <a:t>–  Lab 1 — Define: requirements and problem statement</a:t>
            </a:r>
          </a:p>
          <a:p>
            <a:pPr>
              <a:spcAft>
                <a:spcPts val="1000"/>
              </a:spcAft>
            </a:pPr>
            <a:r>
              <a:rPr sz="1300">
                <a:solidFill>
                  <a:srgbClr val="5B6372"/>
                </a:solidFill>
                <a:latin typeface="Arial"/>
              </a:rPr>
              <a:t>–  MEASURE: process mapping, SIPOC, data, the 8 wastes</a:t>
            </a:r>
          </a:p>
          <a:p>
            <a:pPr>
              <a:spcAft>
                <a:spcPts val="1000"/>
              </a:spcAft>
            </a:pPr>
            <a:r>
              <a:rPr sz="1300">
                <a:solidFill>
                  <a:srgbClr val="5B6372"/>
                </a:solidFill>
                <a:latin typeface="Arial"/>
              </a:rPr>
              <a:t>–  Lab 2 — Measure: map the process, spot the waste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Afternoon — Analyze, Improve, Control</a:t>
            </a:r>
          </a:p>
          <a:p>
            <a:pPr>
              <a:spcAft>
                <a:spcPts val="1000"/>
              </a:spcAft>
            </a:pPr>
            <a:r>
              <a:rPr sz="1300">
                <a:solidFill>
                  <a:srgbClr val="5B6372"/>
                </a:solidFill>
                <a:latin typeface="Arial"/>
              </a:rPr>
              <a:t>–  ANALYZE: root cause, 5 Whys, Fishbone, Pareto</a:t>
            </a:r>
          </a:p>
          <a:p>
            <a:pPr>
              <a:spcAft>
                <a:spcPts val="1000"/>
              </a:spcAft>
            </a:pPr>
            <a:r>
              <a:rPr sz="1300">
                <a:solidFill>
                  <a:srgbClr val="5B6372"/>
                </a:solidFill>
                <a:latin typeface="Arial"/>
              </a:rPr>
              <a:t>–  Lab 3 — Analyze: find the root cause</a:t>
            </a:r>
          </a:p>
          <a:p>
            <a:pPr>
              <a:spcAft>
                <a:spcPts val="1000"/>
              </a:spcAft>
            </a:pPr>
            <a:r>
              <a:rPr sz="1300">
                <a:solidFill>
                  <a:srgbClr val="5B6372"/>
                </a:solidFill>
                <a:latin typeface="Arial"/>
              </a:rPr>
              <a:t>–  IMPROVE: solutions, 5S, mistake proofing, piloting</a:t>
            </a:r>
          </a:p>
          <a:p>
            <a:pPr>
              <a:spcAft>
                <a:spcPts val="1000"/>
              </a:spcAft>
            </a:pPr>
            <a:r>
              <a:rPr sz="1300">
                <a:solidFill>
                  <a:srgbClr val="5B6372"/>
                </a:solidFill>
                <a:latin typeface="Arial"/>
              </a:rPr>
              <a:t>–  Lab 4 — Improve: choose and pilot a countermeasure</a:t>
            </a:r>
          </a:p>
          <a:p>
            <a:pPr>
              <a:spcAft>
                <a:spcPts val="1000"/>
              </a:spcAft>
            </a:pPr>
            <a:r>
              <a:rPr sz="1300">
                <a:solidFill>
                  <a:srgbClr val="5B6372"/>
                </a:solidFill>
                <a:latin typeface="Arial"/>
              </a:rPr>
              <a:t>–  CONTROL: control plan, visual management, handover</a:t>
            </a:r>
          </a:p>
          <a:p>
            <a:pPr>
              <a:spcAft>
                <a:spcPts val="1000"/>
              </a:spcAft>
            </a:pPr>
            <a:r>
              <a:rPr sz="1300">
                <a:solidFill>
                  <a:srgbClr val="5B6372"/>
                </a:solidFill>
                <a:latin typeface="Arial"/>
              </a:rPr>
              <a:t>–  Lab 5 — Control: hold the gain and hand over</a:t>
            </a:r>
          </a:p>
          <a:p>
            <a:pPr>
              <a:spcAft>
                <a:spcPts val="1000"/>
              </a:spcAft>
            </a:pPr>
            <a:r>
              <a:rPr sz="1300">
                <a:solidFill>
                  <a:srgbClr val="5B6372"/>
                </a:solidFill>
                <a:latin typeface="Arial"/>
              </a:rPr>
              <a:t>–  Course summary · Next steps · Course feedback</a:t>
            </a:r>
          </a:p>
          <a:p>
            <a:pPr>
              <a:spcAft>
                <a:spcPts val="1000"/>
              </a:spcAft>
            </a:pPr>
            <a:r>
              <a:rPr sz="1300">
                <a:solidFill>
                  <a:srgbClr val="5B6372"/>
                </a:solidFill>
                <a:latin typeface="Arial"/>
              </a:rPr>
              <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and CTQ</a:t>
            </a:r>
          </a:p>
          <a:p>
            <a:pPr>
              <a:spcAft>
                <a:spcPts val="600"/>
              </a:spcAft>
            </a:pPr>
            <a:r>
              <a:rPr sz="1100">
                <a:solidFill>
                  <a:srgbClr val="161B26"/>
                </a:solidFill>
                <a:latin typeface="Arial"/>
              </a:rPr>
              <a:t>•  Problem statement</a:t>
            </a:r>
          </a:p>
          <a:p>
            <a:pPr>
              <a:spcAft>
                <a:spcPts val="600"/>
              </a:spcAft>
            </a:pPr>
            <a:r>
              <a:rPr sz="1100">
                <a:solidFill>
                  <a:srgbClr val="161B26"/>
                </a:solidFill>
                <a:latin typeface="Arial"/>
              </a:rPr>
              <a:t>•  SMART goal, charter</a:t>
            </a:r>
          </a:p>
          <a:p>
            <a:pPr>
              <a:spcAft>
                <a:spcPts val="600"/>
              </a:spcAft>
            </a:pPr>
            <a:r>
              <a:rPr sz="1100">
                <a:solidFill>
                  <a:srgbClr val="161B26"/>
                </a:solidFill>
                <a:latin typeface="Arial"/>
              </a:rPr>
              <a:t>•  Lab 1</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Process mapping, SIPOC</a:t>
            </a:r>
          </a:p>
          <a:p>
            <a:pPr>
              <a:spcAft>
                <a:spcPts val="600"/>
              </a:spcAft>
            </a:pPr>
            <a:r>
              <a:rPr sz="1100">
                <a:solidFill>
                  <a:srgbClr val="161B26"/>
                </a:solidFill>
                <a:latin typeface="Arial"/>
              </a:rPr>
              <a:t>•  Types of data</a:t>
            </a:r>
          </a:p>
          <a:p>
            <a:pPr>
              <a:spcAft>
                <a:spcPts val="600"/>
              </a:spcAft>
            </a:pPr>
            <a:r>
              <a:rPr sz="1100">
                <a:solidFill>
                  <a:srgbClr val="161B26"/>
                </a:solidFill>
                <a:latin typeface="Arial"/>
              </a:rPr>
              <a:t>•  The 8 wastes</a:t>
            </a:r>
          </a:p>
          <a:p>
            <a:pPr>
              <a:spcAft>
                <a:spcPts val="600"/>
              </a:spcAft>
            </a:pPr>
            <a:r>
              <a:rPr sz="1100">
                <a:solidFill>
                  <a:srgbClr val="161B26"/>
                </a:solidFill>
                <a:latin typeface="Arial"/>
              </a:rPr>
              <a:t>•  Lab 2</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Root cause</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Pareto, variation</a:t>
            </a:r>
          </a:p>
          <a:p>
            <a:pPr>
              <a:spcAft>
                <a:spcPts val="600"/>
              </a:spcAft>
            </a:pPr>
            <a:r>
              <a:rPr sz="1100">
                <a:solidFill>
                  <a:srgbClr val="161B26"/>
                </a:solidFill>
                <a:latin typeface="Arial"/>
              </a:rPr>
              <a:t>•  Lab 3</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Generating solutions</a:t>
            </a:r>
          </a:p>
          <a:p>
            <a:pPr>
              <a:spcAft>
                <a:spcPts val="600"/>
              </a:spcAft>
            </a:pPr>
            <a:r>
              <a:rPr sz="1100">
                <a:solidFill>
                  <a:srgbClr val="161B26"/>
                </a:solidFill>
                <a:latin typeface="Arial"/>
              </a:rPr>
              <a:t>•  5S, mistake proofing</a:t>
            </a:r>
          </a:p>
          <a:p>
            <a:pPr>
              <a:spcAft>
                <a:spcPts val="600"/>
              </a:spcAft>
            </a:pPr>
            <a:r>
              <a:rPr sz="1100">
                <a:solidFill>
                  <a:srgbClr val="161B26"/>
                </a:solidFill>
                <a:latin typeface="Arial"/>
              </a:rPr>
              <a:t>•  Standard work, pilot</a:t>
            </a:r>
          </a:p>
          <a:p>
            <a:pPr>
              <a:spcAft>
                <a:spcPts val="600"/>
              </a:spcAft>
            </a:pPr>
            <a:r>
              <a:rPr sz="1100">
                <a:solidFill>
                  <a:srgbClr val="161B26"/>
                </a:solidFill>
                <a:latin typeface="Arial"/>
              </a:rPr>
              <a:t>•  Lab 4</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SOPs and handover</a:t>
            </a:r>
          </a:p>
          <a:p>
            <a:pPr>
              <a:spcAft>
                <a:spcPts val="600"/>
              </a:spcAft>
            </a:pPr>
            <a:r>
              <a:rPr sz="1100">
                <a:solidFill>
                  <a:srgbClr val="161B26"/>
                </a:solidFill>
                <a:latin typeface="Arial"/>
              </a:rPr>
              <a:t>•  Lab 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Recognising waste, understanding process maps and supporting 5S in your own area.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Helping collect data and taking part in root cause discussions.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White Belt — awareness of Lean Six Sigma and support for local problem solving.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analysis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Find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Ask customers what they need, and record it in their own words.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Turn each customer need into something specific you can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where, since when, and how big — never the solution.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SMART goal</a:t>
            </a:r>
          </a:p>
          <a:p>
            <a:pPr algn="l">
              <a:spcAft>
                <a:spcPts val="300"/>
              </a:spcAft>
            </a:pPr>
            <a:r>
              <a:rPr sz="1100" b="0">
                <a:solidFill>
                  <a:srgbClr val="5B6372"/>
                </a:solidFill>
                <a:latin typeface="Arial"/>
              </a:rPr>
              <a:t>Specific, Measurable, Achievable, Relevant and Time-bound.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A one-page summary of the problem, goal, scope and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Agreeing what is in and out keeps a small project small.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reviews</a:t>
            </a:r>
          </a:p>
          <a:p>
            <a:pPr algn="l">
              <a:spcAft>
                <a:spcPts val="300"/>
              </a:spcAft>
            </a:pPr>
            <a:r>
              <a:rPr sz="1200" b="0">
                <a:solidFill>
                  <a:srgbClr val="5B6372"/>
                </a:solidFill>
                <a:latin typeface="Arial"/>
              </a:rPr>
              <a:t>Already coming in unprompted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how long the wait will be"</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Wait time displayed, 5 minutes or less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White and Yellow Belt support, and subject matter experts.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morning queue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and 31 March, customers served between 7:30am and 9:00am waited an average of 11.5 minutes against a 5-minute target, affecting 38% of morning customers and generating 24 online complaints."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BrewBean Cafe Morning Rush</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Coffee bean supplier</a:t>
            </a:r>
          </a:p>
          <a:p>
            <a:pPr>
              <a:spcAft>
                <a:spcPts val="700"/>
              </a:spcAft>
            </a:pPr>
            <a:r>
              <a:rPr sz="1200">
                <a:solidFill>
                  <a:srgbClr val="161B26"/>
                </a:solidFill>
                <a:latin typeface="Arial"/>
              </a:rPr>
              <a:t>•  Dairy supplier</a:t>
            </a:r>
          </a:p>
          <a:p>
            <a:pPr>
              <a:spcAft>
                <a:spcPts val="700"/>
              </a:spcAft>
            </a:pPr>
            <a:r>
              <a:rPr sz="1200">
                <a:solidFill>
                  <a:srgbClr val="161B26"/>
                </a:solidFill>
                <a:latin typeface="Arial"/>
              </a:rPr>
              <a:t>•  Cup and lid supplier</a:t>
            </a:r>
          </a:p>
          <a:p>
            <a:pPr>
              <a:spcAft>
                <a:spcPts val="700"/>
              </a:spcAft>
            </a:pPr>
            <a:r>
              <a:rPr sz="1200">
                <a:solidFill>
                  <a:srgbClr val="161B26"/>
                </a:solidFill>
                <a:latin typeface="Arial"/>
              </a:rPr>
              <a:t>•  Barista team</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Order details</a:t>
            </a:r>
          </a:p>
          <a:p>
            <a:pPr>
              <a:spcAft>
                <a:spcPts val="700"/>
              </a:spcAft>
            </a:pPr>
            <a:r>
              <a:rPr sz="1200">
                <a:solidFill>
                  <a:srgbClr val="161B26"/>
                </a:solidFill>
                <a:latin typeface="Arial"/>
              </a:rPr>
              <a:t>•  Coffee beans</a:t>
            </a:r>
          </a:p>
          <a:p>
            <a:pPr>
              <a:spcAft>
                <a:spcPts val="700"/>
              </a:spcAft>
            </a:pPr>
            <a:r>
              <a:rPr sz="1200">
                <a:solidFill>
                  <a:srgbClr val="161B26"/>
                </a:solidFill>
                <a:latin typeface="Arial"/>
              </a:rPr>
              <a:t>•  Milk</a:t>
            </a:r>
          </a:p>
          <a:p>
            <a:pPr>
              <a:spcAft>
                <a:spcPts val="700"/>
              </a:spcAft>
            </a:pPr>
            <a:r>
              <a:rPr sz="1200">
                <a:solidFill>
                  <a:srgbClr val="161B26"/>
                </a:solidFill>
                <a:latin typeface="Arial"/>
              </a:rPr>
              <a:t>•  Cups and lids</a:t>
            </a:r>
          </a:p>
          <a:p>
            <a:pPr>
              <a:spcAft>
                <a:spcPts val="700"/>
              </a:spcAft>
            </a:pPr>
            <a:r>
              <a:rPr sz="1200">
                <a:solidFill>
                  <a:srgbClr val="161B26"/>
                </a:solidFill>
                <a:latin typeface="Arial"/>
              </a:rPr>
              <a:t>•  Payment</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Customer joins queue</a:t>
            </a:r>
          </a:p>
          <a:p>
            <a:pPr>
              <a:spcAft>
                <a:spcPts val="700"/>
              </a:spcAft>
            </a:pPr>
            <a:r>
              <a:rPr sz="1200">
                <a:solidFill>
                  <a:srgbClr val="161B26"/>
                </a:solidFill>
                <a:latin typeface="Arial"/>
              </a:rPr>
              <a:t>•  2. Order taken</a:t>
            </a:r>
          </a:p>
          <a:p>
            <a:pPr>
              <a:spcAft>
                <a:spcPts val="700"/>
              </a:spcAft>
            </a:pPr>
            <a:r>
              <a:rPr sz="1200">
                <a:solidFill>
                  <a:srgbClr val="161B26"/>
                </a:solidFill>
                <a:latin typeface="Arial"/>
              </a:rPr>
              <a:t>•  3. Payment made</a:t>
            </a:r>
          </a:p>
          <a:p>
            <a:pPr>
              <a:spcAft>
                <a:spcPts val="700"/>
              </a:spcAft>
            </a:pPr>
            <a:r>
              <a:rPr sz="1200">
                <a:solidFill>
                  <a:srgbClr val="161B26"/>
                </a:solidFill>
                <a:latin typeface="Arial"/>
              </a:rPr>
              <a:t>•  4. Drink prepared</a:t>
            </a:r>
          </a:p>
          <a:p>
            <a:pPr>
              <a:spcAft>
                <a:spcPts val="700"/>
              </a:spcAft>
            </a:pPr>
            <a:r>
              <a:rPr sz="1200">
                <a:solidFill>
                  <a:srgbClr val="161B26"/>
                </a:solidFill>
                <a:latin typeface="Arial"/>
              </a:rPr>
              <a:t>•  5. Drink handed over</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Prepared drink</a:t>
            </a:r>
          </a:p>
          <a:p>
            <a:pPr>
              <a:spcAft>
                <a:spcPts val="700"/>
              </a:spcAft>
            </a:pPr>
            <a:r>
              <a:rPr sz="1200">
                <a:solidFill>
                  <a:srgbClr val="161B26"/>
                </a:solidFill>
                <a:latin typeface="Arial"/>
              </a:rPr>
              <a:t>•  Receipt</a:t>
            </a:r>
          </a:p>
          <a:p>
            <a:pPr>
              <a:spcAft>
                <a:spcPts val="700"/>
              </a:spcAft>
            </a:pPr>
            <a:r>
              <a:rPr sz="1200">
                <a:solidFill>
                  <a:srgbClr val="161B26"/>
                </a:solidFill>
                <a:latin typeface="Arial"/>
              </a:rPr>
              <a:t>•  Order called out</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Walk-in customer</a:t>
            </a:r>
          </a:p>
          <a:p>
            <a:pPr>
              <a:spcAft>
                <a:spcPts val="700"/>
              </a:spcAft>
            </a:pPr>
            <a:r>
              <a:rPr sz="1200">
                <a:solidFill>
                  <a:srgbClr val="161B26"/>
                </a:solidFill>
                <a:latin typeface="Arial"/>
              </a:rPr>
              <a:t>•  Regular customer</a:t>
            </a:r>
          </a:p>
          <a:p>
            <a:pPr>
              <a:spcAft>
                <a:spcPts val="700"/>
              </a:spcAft>
            </a:pPr>
            <a:r>
              <a:rPr sz="1200">
                <a:solidFill>
                  <a:srgbClr val="161B26"/>
                </a:solidFill>
                <a:latin typeface="Arial"/>
              </a:rPr>
              <a:t>•  Office group orders</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1 — Define — Customer Requirements and the Problem</a:t>
            </a:r>
          </a:p>
          <a:p>
            <a:pPr algn="l">
              <a:spcAft>
                <a:spcPts val="300"/>
              </a:spcAft>
            </a:pPr>
            <a:r>
              <a:rPr sz="1100" b="0">
                <a:solidFill>
                  <a:srgbClr val="5B6372"/>
                </a:solidFill>
                <a:latin typeface="Arial"/>
              </a:rPr>
              <a:t>A VOC-to-CTQ table, a written problem statement, a SMART goal and a si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Voice of the Customer, CTQ, problem statement, SMART goal, project scope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BrewBean Cafe scenario and underline every customer complaint you can find.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down five Voice of the Customer statements in the customer's own words (e.g. 'I'm late for work because the queue is too slow').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each VOC statement into a measurable CTQ requirement — add a number and a unit (e.g. 'served within 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problem statement using the template: what is wrong, where, since when, and how big. Do NOT write a solution.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your problem statement against the SMART test and rewrite the goal so it is Specific, Measurable, Achievable, Relevant and Time-bound.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Fill the in-scope / out-of-scope table so the team knows where the project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Ask customers what they need, and record it in their own words.</a:t>
            </a:r>
          </a:p>
          <a:p>
            <a:pPr>
              <a:spcAft>
                <a:spcPts val="1000"/>
              </a:spcAft>
            </a:pPr>
            <a:r>
              <a:rPr sz="1500">
                <a:solidFill>
                  <a:srgbClr val="161B26"/>
                </a:solidFill>
                <a:latin typeface="Arial"/>
              </a:rPr>
              <a:t>•  Critical to Quality — Turn each customer need into something specific you can measure.</a:t>
            </a:r>
          </a:p>
          <a:p>
            <a:pPr>
              <a:spcAft>
                <a:spcPts val="1000"/>
              </a:spcAft>
            </a:pPr>
            <a:r>
              <a:rPr sz="1500">
                <a:solidFill>
                  <a:srgbClr val="161B26"/>
                </a:solidFill>
                <a:latin typeface="Arial"/>
              </a:rPr>
              <a:t>•  Problem statement — What is wrong, where, since when, and how big — never the solution.</a:t>
            </a:r>
          </a:p>
          <a:p>
            <a:pPr>
              <a:spcAft>
                <a:spcPts val="1000"/>
              </a:spcAft>
            </a:pPr>
            <a:r>
              <a:rPr sz="1500">
                <a:solidFill>
                  <a:srgbClr val="161B26"/>
                </a:solidFill>
                <a:latin typeface="Arial"/>
              </a:rPr>
              <a:t>•  SMART goal — Specific, Measurable, Achievable, Relevant and Time-bound.</a:t>
            </a:r>
          </a:p>
          <a:p>
            <a:pPr>
              <a:spcAft>
                <a:spcPts val="1000"/>
              </a:spcAft>
            </a:pPr>
            <a:r>
              <a:rPr sz="1500">
                <a:solidFill>
                  <a:srgbClr val="161B26"/>
                </a:solidFill>
                <a:latin typeface="Arial"/>
              </a:rPr>
              <a:t>•  Project charter — A one-page summary of the problem, goal, scope and team.</a:t>
            </a:r>
          </a:p>
          <a:p>
            <a:pPr>
              <a:spcAft>
                <a:spcPts val="1000"/>
              </a:spcAft>
            </a:pPr>
            <a:r>
              <a:rPr sz="1500">
                <a:solidFill>
                  <a:srgbClr val="161B26"/>
                </a:solidFill>
                <a:latin typeface="Arial"/>
              </a:rPr>
              <a:t>•  Scope — Agreeing what is in and out keeps a small project small.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Draw the steps as they really happen, not as the manual says.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A one-page overview: Suppliers, Inputs, Process, Outputs, Customers.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Discrete data you count; continuous data you measure on a scale.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a:t>
            </a:r>
          </a:p>
          <a:p>
            <a:pPr algn="l">
              <a:spcAft>
                <a:spcPts val="300"/>
              </a:spcAft>
            </a:pPr>
            <a:r>
              <a:rPr sz="1100" b="0">
                <a:solidFill>
                  <a:srgbClr val="5B6372"/>
                </a:solidFill>
                <a:latin typeface="Arial"/>
              </a:rPr>
              <a:t>Agree what to record, who records it, and when — before you start.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tally form is the easiest reliable way to collect data.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eight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A drink made wrong and remade; the wrong order handed over.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Brewing more coffee at 8am than customers actually order, then pouring it away.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Customers standing in the queue; a drink waiting on the counter to be called out.</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An experienced barista tied to the till instead of making drinks at peak.</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Carrying milk from the back store to the counter several times each morning.</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line of unmade orders on the rail during the rush.</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The barista walking back and forth because cups and lids are stored apart.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Writing the order on a cup and then re-keying it into the till.</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actually making the coffee.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recording the sale for tax purposes.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customer waiting in the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2 — Measure — Map the Process and Spot the Waste</a:t>
            </a:r>
          </a:p>
          <a:p>
            <a:pPr algn="l">
              <a:spcAft>
                <a:spcPts val="300"/>
              </a:spcAft>
            </a:pPr>
            <a:r>
              <a:rPr sz="1100" b="0">
                <a:solidFill>
                  <a:srgbClr val="5B6372"/>
                </a:solidFill>
                <a:latin typeface="Arial"/>
              </a:rPr>
              <a:t>A SIPOC overview, a step-by-step process map with timings, and a compl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mapping, types of data, check sheets, the eight wastes (DOWNTIME)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Agree the start and stop points of the process — start: customer joins the queue; stop: customer receives the drink.</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SIPOC template: Suppliers, Inputs, Process (5-7 steps only), Outputs, Customers.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List the process steps in order and write the observed time next to each one.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Mark each step as value-adding (the customer would pay for it) or not value-adding.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Classify the data you collected: which figures are discrete (counted) and which are continuous (measured)?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Walk the process again with the DOWNTIME check sheet and tally every waste you observe against its type.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Identify which single waste type you tallied most often, and which process step it happens at.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Process mapping — Draw the steps as they really happen, not as the manual says.</a:t>
            </a:r>
          </a:p>
          <a:p>
            <a:pPr>
              <a:spcAft>
                <a:spcPts val="1000"/>
              </a:spcAft>
            </a:pPr>
            <a:r>
              <a:rPr sz="1500">
                <a:solidFill>
                  <a:srgbClr val="161B26"/>
                </a:solidFill>
                <a:latin typeface="Arial"/>
              </a:rPr>
              <a:t>•  SIPOC — A one-page overview: Suppliers, Inputs, Process, Outputs, Customers.</a:t>
            </a:r>
          </a:p>
          <a:p>
            <a:pPr>
              <a:spcAft>
                <a:spcPts val="1000"/>
              </a:spcAft>
            </a:pPr>
            <a:r>
              <a:rPr sz="1500">
                <a:solidFill>
                  <a:srgbClr val="161B26"/>
                </a:solidFill>
                <a:latin typeface="Arial"/>
              </a:rPr>
              <a:t>•  Types of data — Discrete data you count; continuous data you measure on a scale.</a:t>
            </a:r>
          </a:p>
          <a:p>
            <a:pPr>
              <a:spcAft>
                <a:spcPts val="1000"/>
              </a:spcAft>
            </a:pPr>
            <a:r>
              <a:rPr sz="1500">
                <a:solidFill>
                  <a:srgbClr val="161B26"/>
                </a:solidFill>
                <a:latin typeface="Arial"/>
              </a:rPr>
              <a:t>•  Data collection — Agree what to record, who records it, and when — before you start.</a:t>
            </a:r>
          </a:p>
          <a:p>
            <a:pPr>
              <a:spcAft>
                <a:spcPts val="1000"/>
              </a:spcAft>
            </a:pPr>
            <a:r>
              <a:rPr sz="1500">
                <a:solidFill>
                  <a:srgbClr val="161B26"/>
                </a:solidFill>
                <a:latin typeface="Arial"/>
              </a:rPr>
              <a:t>•  Check sheets — A simple tally form is the easiest reliable way to collect data.</a:t>
            </a:r>
          </a:p>
          <a:p>
            <a:pPr>
              <a:spcAft>
                <a:spcPts val="1000"/>
              </a:spcAft>
            </a:pPr>
            <a:r>
              <a:rPr sz="1500">
                <a:solidFill>
                  <a:srgbClr val="161B26"/>
                </a:solidFill>
                <a:latin typeface="Arial"/>
              </a:rPr>
              <a:t>•  The eight wastes — DOWNTIME — Defects, Overproduction, Waiting, Non-utilised talent, Transport, Inventory, Motion, Extra-processing.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Symptom vs cause</a:t>
            </a:r>
          </a:p>
          <a:p>
            <a:pPr algn="l">
              <a:spcAft>
                <a:spcPts val="300"/>
              </a:spcAft>
            </a:pPr>
            <a:r>
              <a:rPr sz="1100" b="0">
                <a:solidFill>
                  <a:srgbClr val="5B6372"/>
                </a:solidFill>
                <a:latin typeface="Arial"/>
              </a:rPr>
              <a:t>Treating the symptom makes the problem come back; treating the cause does not.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a:t>
            </a:r>
          </a:p>
          <a:p>
            <a:pPr algn="l">
              <a:spcAft>
                <a:spcPts val="300"/>
              </a:spcAft>
            </a:pPr>
            <a:r>
              <a:rPr sz="1100" b="0">
                <a:solidFill>
                  <a:srgbClr val="5B6372"/>
                </a:solidFill>
                <a:latin typeface="Arial"/>
              </a:rPr>
              <a:t>The cause that, once removed, stops the problem recurring.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Keep asking 'why?' until you reach something you can actually act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Sort possible causes into Manpower, Method, Machine, Material and Measurement.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Roughly 80% of the problem usually comes from 20% of the causes.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Some variation is normal in the process; some has a specific assignable cause.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 at the BrewBean Cafe</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One till at</a:t>
            </a:r>
          </a:p>
          <a:p>
            <a:pPr algn="ctr">
              <a:spcAft>
                <a:spcPts val="400"/>
              </a:spcAft>
            </a:pPr>
            <a:r>
              <a:rPr sz="1000" b="0">
                <a:solidFill>
                  <a:srgbClr val="5B6372"/>
                </a:solidFill>
                <a:latin typeface="Arial"/>
              </a:rPr>
              <a:t>peak hour</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Milk fetched</a:t>
            </a:r>
          </a:p>
          <a:p>
            <a:pPr algn="ctr">
              <a:spcAft>
                <a:spcPts val="400"/>
              </a:spcAft>
            </a:pPr>
            <a:r>
              <a:rPr sz="1000" b="0">
                <a:solidFill>
                  <a:srgbClr val="5B6372"/>
                </a:solidFill>
                <a:latin typeface="Arial"/>
              </a:rPr>
              <a:t>from back store</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Order re-keyed</a:t>
            </a:r>
          </a:p>
          <a:p>
            <a:pPr algn="ctr">
              <a:spcAft>
                <a:spcPts val="400"/>
              </a:spcAft>
            </a:pPr>
            <a:r>
              <a:rPr sz="1000" b="0">
                <a:solidFill>
                  <a:srgbClr val="5B6372"/>
                </a:solidFill>
                <a:latin typeface="Arial"/>
              </a:rPr>
              <a:t>into till</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Card machine</a:t>
            </a:r>
          </a:p>
          <a:p>
            <a:pPr algn="ctr">
              <a:spcAft>
                <a:spcPts val="400"/>
              </a:spcAft>
            </a:pPr>
            <a:r>
              <a:rPr sz="1000" b="0">
                <a:solidFill>
                  <a:srgbClr val="5B6372"/>
                </a:solidFill>
                <a:latin typeface="Arial"/>
              </a:rPr>
              <a:t>slow</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Drink remade</a:t>
            </a:r>
          </a:p>
          <a:p>
            <a:pPr algn="ctr">
              <a:spcAft>
                <a:spcPts val="400"/>
              </a:spcAft>
            </a:pPr>
            <a:r>
              <a:rPr sz="1000" b="0">
                <a:solidFill>
                  <a:srgbClr val="5B6372"/>
                </a:solidFill>
                <a:latin typeface="Arial"/>
              </a:rPr>
              <a:t>(wrong order)</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causes — a single till at peak hour and milk fetched from the back store — account for about 66% of all delay.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The BrewBean Morning Queue</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Customers wait 11.5 minutes at 8am vs a 5-minute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Drinks are not made fast enough to clear the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The barista keeps stopping mid-order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Milk runs out at the counter and must be fetched from the back store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No one restocks counter milk before the 7:30am rush begins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The Morning Queue Is Too Slow</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Morning</a:t>
            </a:r>
          </a:p>
          <a:p>
            <a:pPr algn="ctr">
              <a:spcAft>
                <a:spcPts val="400"/>
              </a:spcAft>
            </a:pPr>
            <a:r>
              <a:rPr sz="1300" b="1">
                <a:solidFill>
                  <a:srgbClr val="FFFFFF"/>
                </a:solidFill>
                <a:latin typeface="Arial"/>
              </a:rPr>
              <a:t>queue is</a:t>
            </a:r>
          </a:p>
          <a:p>
            <a:pPr algn="ctr">
              <a:spcAft>
                <a:spcPts val="400"/>
              </a:spcAft>
            </a:pPr>
            <a:r>
              <a:rPr sz="1300" b="1">
                <a:solidFill>
                  <a:srgbClr val="FFFFFF"/>
                </a:solidFill>
                <a:latin typeface="Arial"/>
              </a:rPr>
              <a:t>too slow</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till at peak</a:t>
            </a:r>
          </a:p>
          <a:p>
            <a:pPr>
              <a:spcAft>
                <a:spcPts val="100"/>
              </a:spcAft>
            </a:pPr>
            <a:r>
              <a:rPr sz="1000">
                <a:solidFill>
                  <a:srgbClr val="161B26"/>
                </a:solidFill>
                <a:latin typeface="Arial"/>
              </a:rPr>
              <a:t>•  No cover for breaks</a:t>
            </a:r>
          </a:p>
          <a:p>
            <a:pPr>
              <a:spcAft>
                <a:spcPts val="100"/>
              </a:spcAft>
            </a:pPr>
            <a:r>
              <a:rPr sz="1000">
                <a:solidFill>
                  <a:srgbClr val="161B26"/>
                </a:solidFill>
                <a:latin typeface="Arial"/>
              </a:rPr>
              <a:t>•  New staff untrained</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Card machine slow</a:t>
            </a:r>
          </a:p>
          <a:p>
            <a:pPr>
              <a:spcAft>
                <a:spcPts val="100"/>
              </a:spcAft>
            </a:pPr>
            <a:r>
              <a:rPr sz="1000">
                <a:solidFill>
                  <a:srgbClr val="161B26"/>
                </a:solidFill>
                <a:latin typeface="Arial"/>
              </a:rPr>
              <a:t>•  One grinder only</a:t>
            </a:r>
          </a:p>
          <a:p>
            <a:pPr>
              <a:spcAft>
                <a:spcPts val="100"/>
              </a:spcAft>
            </a:pPr>
            <a:r>
              <a:rPr sz="1000">
                <a:solidFill>
                  <a:srgbClr val="161B26"/>
                </a:solidFill>
                <a:latin typeface="Arial"/>
              </a:rPr>
              <a:t>•  Till screen confusing</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Wait time not tracked</a:t>
            </a:r>
          </a:p>
          <a:p>
            <a:pPr>
              <a:spcAft>
                <a:spcPts val="100"/>
              </a:spcAft>
            </a:pPr>
            <a:r>
              <a:rPr sz="1000">
                <a:solidFill>
                  <a:srgbClr val="161B26"/>
                </a:solidFill>
                <a:latin typeface="Arial"/>
              </a:rPr>
              <a:t>•  No target agreed</a:t>
            </a:r>
          </a:p>
          <a:p>
            <a:pPr>
              <a:spcAft>
                <a:spcPts val="100"/>
              </a:spcAft>
            </a:pPr>
            <a:r>
              <a:rPr sz="1000">
                <a:solidFill>
                  <a:srgbClr val="161B26"/>
                </a:solidFill>
                <a:latin typeface="Arial"/>
              </a:rPr>
              <a:t>•  Complaints not logged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No restocking routine</a:t>
            </a:r>
          </a:p>
          <a:p>
            <a:pPr>
              <a:spcAft>
                <a:spcPts val="100"/>
              </a:spcAft>
            </a:pPr>
            <a:r>
              <a:rPr sz="1000">
                <a:solidFill>
                  <a:srgbClr val="161B26"/>
                </a:solidFill>
                <a:latin typeface="Arial"/>
              </a:rPr>
              <a:t>•  Order re-keyed into till</a:t>
            </a:r>
          </a:p>
          <a:p>
            <a:pPr>
              <a:spcAft>
                <a:spcPts val="100"/>
              </a:spcAft>
            </a:pPr>
            <a:r>
              <a:rPr sz="1000">
                <a:solidFill>
                  <a:srgbClr val="161B26"/>
                </a:solidFill>
                <a:latin typeface="Arial"/>
              </a:rPr>
              <a:t>•  No queue policy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Milk stored at the back</a:t>
            </a:r>
          </a:p>
          <a:p>
            <a:pPr>
              <a:spcAft>
                <a:spcPts val="100"/>
              </a:spcAft>
            </a:pPr>
            <a:r>
              <a:rPr sz="1000">
                <a:solidFill>
                  <a:srgbClr val="161B26"/>
                </a:solidFill>
                <a:latin typeface="Arial"/>
              </a:rPr>
              <a:t>•  Cups and lids kept apart</a:t>
            </a:r>
          </a:p>
          <a:p>
            <a:pPr>
              <a:spcAft>
                <a:spcPts val="100"/>
              </a:spcAft>
            </a:pPr>
            <a:r>
              <a:rPr sz="1000">
                <a:solidFill>
                  <a:srgbClr val="161B26"/>
                </a:solidFill>
                <a:latin typeface="Arial"/>
              </a:rPr>
              <a:t>•  Beans not pre-ground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3 — Analyze — Find the Root Cause</a:t>
            </a:r>
          </a:p>
          <a:p>
            <a:pPr algn="l">
              <a:spcAft>
                <a:spcPts val="300"/>
              </a:spcAft>
            </a:pPr>
            <a:r>
              <a:rPr sz="1100" b="0">
                <a:solidFill>
                  <a:srgbClr val="5B6372"/>
                </a:solidFill>
                <a:latin typeface="Arial"/>
              </a:rPr>
              <a:t>A completed 5 Whys chain, a Fishbone diagram with causes sorted by cat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now know WHERE the delay happens. This lab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Symptom vs cause, 5 Whys, Fishbone (5M) diagram, Pareto chart, common vs special cause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symptom from your Lab 2 findings at the top of the 5 Whys template (e.g. 'customers wait 15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Ask 'why does that happen?' five times, each answer becoming the next question. Stop when you reach something you can act 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Draw the Fishbone diagram and write the problem in the head of the fish.</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possible causes onto the five bones: Manpower, Method, Machine, Material and Measurement.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supplied Pareto chart of BrewBean complaint types and state which few causes account for most of the problem.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Decide for each shortlisted cause whether it is common cause (happens every day) or special cause (a one-off event).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Shortlist the two or three causes best supported by the data you collected in Lab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Symptom vs cause — Treating the symptom makes the problem come back; treating the cause does not.</a:t>
            </a:r>
          </a:p>
          <a:p>
            <a:pPr>
              <a:spcAft>
                <a:spcPts val="1000"/>
              </a:spcAft>
            </a:pPr>
            <a:r>
              <a:rPr sz="1500">
                <a:solidFill>
                  <a:srgbClr val="161B26"/>
                </a:solidFill>
                <a:latin typeface="Arial"/>
              </a:rPr>
              <a:t>•  Root cause — The cause that, once removed, stops the problem recurring.</a:t>
            </a:r>
          </a:p>
          <a:p>
            <a:pPr>
              <a:spcAft>
                <a:spcPts val="1000"/>
              </a:spcAft>
            </a:pPr>
            <a:r>
              <a:rPr sz="1500">
                <a:solidFill>
                  <a:srgbClr val="161B26"/>
                </a:solidFill>
                <a:latin typeface="Arial"/>
              </a:rPr>
              <a:t>•  5 Whys — Keep asking 'why?' until you reach something you can actually act on.</a:t>
            </a:r>
          </a:p>
          <a:p>
            <a:pPr>
              <a:spcAft>
                <a:spcPts val="1000"/>
              </a:spcAft>
            </a:pPr>
            <a:r>
              <a:rPr sz="1500">
                <a:solidFill>
                  <a:srgbClr val="161B26"/>
                </a:solidFill>
                <a:latin typeface="Arial"/>
              </a:rPr>
              <a:t>•  Fishbone diagram — Sort possible causes into Manpower, Method, Machine, Material and Measurement.</a:t>
            </a:r>
          </a:p>
          <a:p>
            <a:pPr>
              <a:spcAft>
                <a:spcPts val="1000"/>
              </a:spcAft>
            </a:pPr>
            <a:r>
              <a:rPr sz="1500">
                <a:solidFill>
                  <a:srgbClr val="161B26"/>
                </a:solidFill>
                <a:latin typeface="Arial"/>
              </a:rPr>
              <a:t>•  Pareto chart — Roughly 80% of the problem usually comes from 20% of the causes.</a:t>
            </a:r>
          </a:p>
          <a:p>
            <a:pPr>
              <a:spcAft>
                <a:spcPts val="1000"/>
              </a:spcAft>
            </a:pPr>
            <a:r>
              <a:rPr sz="1500">
                <a:solidFill>
                  <a:srgbClr val="161B26"/>
                </a:solidFill>
                <a:latin typeface="Arial"/>
              </a:rPr>
              <a:t>•  Variation — Some variation is normal in the process; some has a specific assignable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against the proven cause — never against the symptom.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Choosing a solution</a:t>
            </a:r>
          </a:p>
          <a:p>
            <a:pPr algn="l">
              <a:spcAft>
                <a:spcPts val="300"/>
              </a:spcAft>
            </a:pPr>
            <a:r>
              <a:rPr sz="1100" b="0">
                <a:solidFill>
                  <a:srgbClr val="5B6372"/>
                </a:solidFill>
                <a:latin typeface="Arial"/>
              </a:rPr>
              <a:t>Compare ideas on impact, effort and risk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a tidy workplace for physical or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Mistake proofing</a:t>
            </a:r>
          </a:p>
          <a:p>
            <a:pPr algn="l">
              <a:spcAft>
                <a:spcPts val="300"/>
              </a:spcAft>
            </a:pPr>
            <a:r>
              <a:rPr sz="1100" b="0">
                <a:solidFill>
                  <a:srgbClr val="5B6372"/>
                </a:solidFill>
                <a:latin typeface="Arial"/>
              </a:rPr>
              <a:t>Poka-Yoke makes the error hard or impossible to make.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Write the better method down so everyone does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Try the change small first, so mistakes stay cheap.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shift, one counter or one drink type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4 — Improve — Choose and Pilot a Countermeasure</a:t>
            </a:r>
          </a:p>
          <a:p>
            <a:pPr algn="l">
              <a:spcAft>
                <a:spcPts val="300"/>
              </a:spcAft>
            </a:pPr>
            <a:r>
              <a:rPr sz="1100" b="0">
                <a:solidFill>
                  <a:srgbClr val="5B6372"/>
                </a:solidFill>
                <a:latin typeface="Arial"/>
              </a:rPr>
              <a:t>A brainstormed countermeasure list, an impact/effort grid, one selecte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cause is only worth finding if something changes because of it. Take the root causes you shortlisted in Lab 3, generate countermeasures against them, and pick one that is small enough to try next week. The discipline here is to solve the CAUSE you proved, not the symptom you started with.</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impact/effort screening, 5S, mistake proofing (Poka-Yoke), standard work, piloting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your top root cause from Lab 3 at the top of the sheet — every idea must address THIS cause.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at least six countermeasures without judging any of them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5S would help: is anything at the counter hard to find, out of place or untidy?</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mistake proofing would help: could the wrong order be made impossible rather than merely discouraged?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Plot every idea on the impact/effort grid and pick one from the high-impact, low-effort corner.</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improved method as standard work — short numbered steps anyone on shift could follow.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a one-week pilot plan: what changes, who runs it, what you will measure, and how you will know it worked.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Lab 3 (not the symptom), and your pilot plan names a measure, an owner and a review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against the proven cause — never against the symptom.</a:t>
            </a:r>
          </a:p>
          <a:p>
            <a:pPr>
              <a:spcAft>
                <a:spcPts val="1000"/>
              </a:spcAft>
            </a:pPr>
            <a:r>
              <a:rPr sz="1500">
                <a:solidFill>
                  <a:srgbClr val="161B26"/>
                </a:solidFill>
                <a:latin typeface="Arial"/>
              </a:rPr>
              <a:t>•  Choosing a solution — Compare ideas on impact, effort and risk before committing.</a:t>
            </a:r>
          </a:p>
          <a:p>
            <a:pPr>
              <a:spcAft>
                <a:spcPts val="1000"/>
              </a:spcAft>
            </a:pPr>
            <a:r>
              <a:rPr sz="1500">
                <a:solidFill>
                  <a:srgbClr val="161B26"/>
                </a:solidFill>
                <a:latin typeface="Arial"/>
              </a:rPr>
              <a:t>•  5S — Sort, Set in order, Shine, Standardise, Sustain — a tidy workplace for physical or digital work.</a:t>
            </a:r>
          </a:p>
          <a:p>
            <a:pPr>
              <a:spcAft>
                <a:spcPts val="1000"/>
              </a:spcAft>
            </a:pPr>
            <a:r>
              <a:rPr sz="1500">
                <a:solidFill>
                  <a:srgbClr val="161B26"/>
                </a:solidFill>
                <a:latin typeface="Arial"/>
              </a:rPr>
              <a:t>•  Mistake proofing — Poka-Yoke makes the error hard or impossible to make.</a:t>
            </a:r>
          </a:p>
          <a:p>
            <a:pPr>
              <a:spcAft>
                <a:spcPts val="1000"/>
              </a:spcAft>
            </a:pPr>
            <a:r>
              <a:rPr sz="1500">
                <a:solidFill>
                  <a:srgbClr val="161B26"/>
                </a:solidFill>
                <a:latin typeface="Arial"/>
              </a:rPr>
              <a:t>•  Standard work — Write the better method down so everyone does it the same way.</a:t>
            </a:r>
          </a:p>
          <a:p>
            <a:pPr>
              <a:spcAft>
                <a:spcPts val="1000"/>
              </a:spcAft>
            </a:pPr>
            <a:r>
              <a:rPr sz="1500">
                <a:solidFill>
                  <a:srgbClr val="161B26"/>
                </a:solidFill>
                <a:latin typeface="Arial"/>
              </a:rPr>
              <a:t>•  Piloting — Try the change small first, so mistakes stay cheap.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Control matters</a:t>
            </a:r>
          </a:p>
          <a:p>
            <a:pPr algn="l">
              <a:spcAft>
                <a:spcPts val="300"/>
              </a:spcAft>
            </a:pPr>
            <a:r>
              <a:rPr sz="1100" b="0">
                <a:solidFill>
                  <a:srgbClr val="5B6372"/>
                </a:solidFill>
                <a:latin typeface="Arial"/>
              </a:rPr>
              <a:t>Without Control, processes quietly drift back to the old 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What we measure, the target, how often, who owns it, and what to do if it slips.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Make performance visible so problems are noticed the same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catch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Handover</a:t>
            </a:r>
          </a:p>
          <a:p>
            <a:pPr algn="l">
              <a:spcAft>
                <a:spcPts val="300"/>
              </a:spcAft>
            </a:pPr>
            <a:r>
              <a:rPr sz="1100" b="0">
                <a:solidFill>
                  <a:srgbClr val="5B6372"/>
                </a:solidFill>
                <a:latin typeface="Arial"/>
              </a:rPr>
              <a:t>Give the improved process back to the people who run it every day.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5 — Control — Hold the Gain and Hand Over</a:t>
            </a:r>
          </a:p>
          <a:p>
            <a:pPr algn="l">
              <a:spcAft>
                <a:spcPts val="300"/>
              </a:spcAft>
            </a:pPr>
            <a:r>
              <a:rPr sz="1100" b="0">
                <a:solidFill>
                  <a:srgbClr val="5B6372"/>
                </a:solidFill>
                <a:latin typeface="Arial"/>
              </a:rPr>
              <a:t>A completed control plan, a visual management board sketch, and a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visual management, SOPs, team huddles, handover, one-page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Choose the ONE measure that tells you the improvement is still working (e.g. average wait time at 8:00am).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control plan template: measure, target, how often it is checked, and who owns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reaction plan — the exact steps to take when the measure misses target.</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Sketch a simple visual board that would make this measure visible to the whole shift.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your Lab 4 standard work into a short SOP the cafe could actually pin up.</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Plan a five-minute daily huddle: who attends, what is reviewed and how long it lasts.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Summarise the whole project on one page — problem, cause, countermeasure, result and control — and name who you hand it over to.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Why Control matters — Without Control, processes quietly drift back to the old way.</a:t>
            </a:r>
          </a:p>
          <a:p>
            <a:pPr>
              <a:spcAft>
                <a:spcPts val="1000"/>
              </a:spcAft>
            </a:pPr>
            <a:r>
              <a:rPr sz="1500">
                <a:solidFill>
                  <a:srgbClr val="161B26"/>
                </a:solidFill>
                <a:latin typeface="Arial"/>
              </a:rPr>
              <a:t>•  Control plan — What we measure, the target, how often, who owns it, and what to do if it slips.</a:t>
            </a:r>
          </a:p>
          <a:p>
            <a:pPr>
              <a:spcAft>
                <a:spcPts val="1000"/>
              </a:spcAft>
            </a:pPr>
            <a:r>
              <a:rPr sz="1500">
                <a:solidFill>
                  <a:srgbClr val="161B26"/>
                </a:solidFill>
                <a:latin typeface="Arial"/>
              </a:rPr>
              <a:t>•  Visual management — Make performance visible so problems are noticed the same day.</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catch problems while they are still small.</a:t>
            </a:r>
          </a:p>
          <a:p>
            <a:pPr>
              <a:spcAft>
                <a:spcPts val="1000"/>
              </a:spcAft>
            </a:pPr>
            <a:r>
              <a:rPr sz="1500">
                <a:solidFill>
                  <a:srgbClr val="161B26"/>
                </a:solidFill>
                <a:latin typeface="Arial"/>
              </a:rPr>
              <a:t>•  Handover — Give the improved process back to the people who run it every 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problem statement</a:t>
            </a:r>
          </a:p>
          <a:p>
            <a:pPr>
              <a:spcAft>
                <a:spcPts val="600"/>
              </a:spcAft>
            </a:pPr>
            <a:r>
              <a:rPr sz="1100">
                <a:solidFill>
                  <a:srgbClr val="161B26"/>
                </a:solidFill>
                <a:latin typeface="Arial"/>
              </a:rPr>
              <a:t>•  Set a SMART goal</a:t>
            </a:r>
          </a:p>
          <a:p>
            <a:pPr>
              <a:spcAft>
                <a:spcPts val="600"/>
              </a:spcAft>
            </a:pPr>
            <a:r>
              <a:rPr sz="1100">
                <a:solidFill>
                  <a:srgbClr val="161B26"/>
                </a:solidFill>
                <a:latin typeface="Arial"/>
              </a:rPr>
              <a:t>•  Agreed the scope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a:p>
            <a:pPr>
              <a:spcAft>
                <a:spcPts val="600"/>
              </a:spcAft>
            </a:pPr>
            <a:r>
              <a:rPr sz="1100">
                <a:solidFill>
                  <a:srgbClr val="161B26"/>
                </a:solidFill>
                <a:latin typeface="Arial"/>
              </a:rPr>
              <a:t>•  Classified the data</a:t>
            </a:r>
          </a:p>
          <a:p>
            <a:pPr>
              <a:spcAft>
                <a:spcPts val="600"/>
              </a:spcAft>
            </a:pPr>
            <a:r>
              <a:rPr sz="1100">
                <a:solidFill>
                  <a:srgbClr val="161B26"/>
                </a:solidFill>
                <a:latin typeface="Arial"/>
              </a:rPr>
              <a:t>•  Tallied the 8 wastes</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Ran the 5 Whys</a:t>
            </a:r>
          </a:p>
          <a:p>
            <a:pPr>
              <a:spcAft>
                <a:spcPts val="600"/>
              </a:spcAft>
            </a:pPr>
            <a:r>
              <a:rPr sz="1100">
                <a:solidFill>
                  <a:srgbClr val="161B26"/>
                </a:solidFill>
                <a:latin typeface="Arial"/>
              </a:rPr>
              <a:t>•  Built the Fishbone</a:t>
            </a:r>
          </a:p>
          <a:p>
            <a:pPr>
              <a:spcAft>
                <a:spcPts val="600"/>
              </a:spcAft>
            </a:pPr>
            <a:r>
              <a:rPr sz="1100">
                <a:solidFill>
                  <a:srgbClr val="161B26"/>
                </a:solidFill>
                <a:latin typeface="Arial"/>
              </a:rPr>
              <a:t>•  Read the Pareto chart</a:t>
            </a:r>
          </a:p>
          <a:p>
            <a:pPr>
              <a:spcAft>
                <a:spcPts val="600"/>
              </a:spcAft>
            </a:pPr>
            <a:r>
              <a:rPr sz="1100">
                <a:solidFill>
                  <a:srgbClr val="161B26"/>
                </a:solidFill>
                <a:latin typeface="Arial"/>
              </a:rPr>
              <a:t>•  Shortlisted the causes</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Generated countermeasures</a:t>
            </a:r>
          </a:p>
          <a:p>
            <a:pPr>
              <a:spcAft>
                <a:spcPts val="600"/>
              </a:spcAft>
            </a:pPr>
            <a:r>
              <a:rPr sz="1100">
                <a:solidFill>
                  <a:srgbClr val="161B26"/>
                </a:solidFill>
                <a:latin typeface="Arial"/>
              </a:rPr>
              <a:t>•  Screened on impact/effort</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Planned the pilot</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SOP</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and CTQ table</a:t>
            </a:r>
          </a:p>
          <a:p>
            <a:pPr algn="l">
              <a:spcAft>
                <a:spcPts val="300"/>
              </a:spcAft>
            </a:pPr>
            <a:r>
              <a:rPr sz="1000" b="0">
                <a:solidFill>
                  <a:srgbClr val="5B6372"/>
                </a:solidFill>
                <a:latin typeface="Arial"/>
              </a:rPr>
              <a:t>Customer requirements translated into measurable CTQs.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Problem statement and goal</a:t>
            </a:r>
          </a:p>
          <a:p>
            <a:pPr algn="l">
              <a:spcAft>
                <a:spcPts val="300"/>
              </a:spcAft>
            </a:pPr>
            <a:r>
              <a:rPr sz="1000" b="0">
                <a:solidFill>
                  <a:srgbClr val="5B6372"/>
                </a:solidFill>
                <a:latin typeface="Arial"/>
              </a:rPr>
              <a:t>A clear problem statement, a SMART goal and an agreed scope.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The BrewBean Cafe process as it really runs, with times against each step.</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Waste tally sheet</a:t>
            </a:r>
          </a:p>
          <a:p>
            <a:pPr algn="l">
              <a:spcAft>
                <a:spcPts val="300"/>
              </a:spcAft>
            </a:pPr>
            <a:r>
              <a:rPr sz="1000" b="0">
                <a:solidFill>
                  <a:srgbClr val="5B6372"/>
                </a:solidFill>
                <a:latin typeface="Arial"/>
              </a:rPr>
              <a:t>Every observed waste tagged to one of the eight DOWNTIME types.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5 Whys and Fishbone</a:t>
            </a:r>
          </a:p>
          <a:p>
            <a:pPr algn="l">
              <a:spcAft>
                <a:spcPts val="300"/>
              </a:spcAft>
            </a:pPr>
            <a:r>
              <a:rPr sz="1000" b="0">
                <a:solidFill>
                  <a:srgbClr val="5B6372"/>
                </a:solidFill>
                <a:latin typeface="Arial"/>
              </a:rPr>
              <a:t>A cause chain and a categorised cause diagram for your problem.</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Countermeasure and pilot plan</a:t>
            </a:r>
          </a:p>
          <a:p>
            <a:pPr algn="l">
              <a:spcAft>
                <a:spcPts val="300"/>
              </a:spcAft>
            </a:pPr>
            <a:r>
              <a:rPr sz="1000" b="0">
                <a:solidFill>
                  <a:srgbClr val="5B6372"/>
                </a:solidFill>
                <a:latin typeface="Arial"/>
              </a:rPr>
              <a:t>One selected countermeasure with standard work and a one-week pilot.</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SOP</a:t>
            </a:r>
          </a:p>
          <a:p>
            <a:pPr algn="l">
              <a:spcAft>
                <a:spcPts val="300"/>
              </a:spcAft>
            </a:pPr>
            <a:r>
              <a:rPr sz="1000" b="0">
                <a:solidFill>
                  <a:srgbClr val="5B6372"/>
                </a:solidFill>
                <a:latin typeface="Arial"/>
              </a:rPr>
              <a:t>Measure, target, frequency, owner, reaction plan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One-page summary</a:t>
            </a:r>
          </a:p>
          <a:p>
            <a:pPr algn="l">
              <a:spcAft>
                <a:spcPts val="300"/>
              </a:spcAft>
            </a:pPr>
            <a:r>
              <a:rPr sz="1000" b="0">
                <a:solidFill>
                  <a:srgbClr val="5B6372"/>
                </a:solidFill>
                <a:latin typeface="Arial"/>
              </a:rPr>
              <a:t>The complete DMAIC story from problem to handover.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Spot and log the eight wastes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a:t>
            </a:r>
          </a:p>
          <a:p>
            <a:pPr algn="l">
              <a:spcAft>
                <a:spcPts val="300"/>
              </a:spcAft>
            </a:pPr>
            <a:r>
              <a:rPr sz="1200" b="0">
                <a:solidFill>
                  <a:srgbClr val="5B6372"/>
                </a:solidFill>
                <a:latin typeface="Arial"/>
              </a:rPr>
              <a:t>The next step — supports DMAIC projects and the data analysis behind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improvement 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conversation</a:t>
            </a:r>
          </a:p>
          <a:p>
            <a:pPr algn="l">
              <a:spcAft>
                <a:spcPts val="300"/>
              </a:spcAft>
            </a:pPr>
            <a:r>
              <a:rPr sz="1200" b="0">
                <a:solidFill>
                  <a:srgbClr val="5B6372"/>
                </a:solidFill>
                <a:latin typeface="Arial"/>
              </a:rPr>
              <a:t>Raise improvement ideas in your team; small changes spread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Feedback</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course feedback form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Tell us what worked well in the session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Tell us what could be improved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An e-certificate of completion is awarded on full attendance and participation.</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a:p>
            <a:pPr>
              <a:spcAft>
                <a:spcPts val="1000"/>
              </a:spcAft>
            </a:pPr>
            <a:r>
              <a:rPr sz="2000">
                <a:solidFill>
                  <a:srgbClr val="161B26"/>
                </a:solidFill>
                <a:latin typeface="Arial"/>
              </a:rPr>
              <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spot one waste in your own process this month — that is where every improvement starts.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  C142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